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B7AB8"/>
                </a:solidFill>
                <a:latin typeface="Calibri"/>
              </a:rPr>
              <a:t>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1A1A1A"/>
                </a:solidFill>
                <a:latin typeface="Calibri"/>
              </a:rPr>
              <a:t>mustr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555555"/>
                </a:solidFill>
                <a:latin typeface="Calibri"/>
              </a:rPr>
              <a:t>An autonomous agent that runs your volunteer program — by SMS today, by voice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Series Seed  ·  Confidential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Volunteer coordinators are drowning.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74519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2C2C2C"/>
                </a:solidFill>
                <a:latin typeface="Calibri"/>
              </a:rPr>
              <a:t>The work is repetitive. The tools are passive. The volunteers slip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2606040" cy="2834640"/>
          </a:xfrm>
          <a:prstGeom prst="roundRect">
            <a:avLst/>
          </a:prstGeom>
          <a:solidFill>
            <a:srgbClr val="F5E6E0"/>
          </a:solidFill>
          <a:ln w="9525">
            <a:solidFill>
              <a:srgbClr val="C5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C58A6B"/>
                </a:solidFill>
                <a:latin typeface="Calibri"/>
              </a:rPr>
              <a:t>60–80%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2148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of a coordinator's time goes to scheduling, reminders, and chasing no-shows — not to running their 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788920"/>
            <a:ext cx="2606040" cy="2834640"/>
          </a:xfrm>
          <a:prstGeom prst="roundRect">
            <a:avLst/>
          </a:prstGeom>
          <a:solidFill>
            <a:srgbClr val="F5E6E0"/>
          </a:solidFill>
          <a:ln w="9525">
            <a:solidFill>
              <a:srgbClr val="C5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301752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C58A6B"/>
                </a:solidFill>
                <a:latin typeface="Calibri"/>
              </a:rPr>
              <a:t>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23360"/>
            <a:ext cx="2148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drop in active US volunteers vs. pre-2020 (BLS). Coordinators must recruit harder for the same headcount.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88920"/>
            <a:ext cx="2606040" cy="2834640"/>
          </a:xfrm>
          <a:prstGeom prst="roundRect">
            <a:avLst/>
          </a:prstGeom>
          <a:solidFill>
            <a:srgbClr val="F5E6E0"/>
          </a:solidFill>
          <a:ln w="9525">
            <a:solidFill>
              <a:srgbClr val="C5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301752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C58A6B"/>
                </a:solidFill>
                <a:latin typeface="Calibri"/>
              </a:rPr>
              <a:t>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023360"/>
            <a:ext cx="2148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average no-show rate at recurring events. Every no-show is a phone call, a panicked back-fill, or a missed shift.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788920"/>
            <a:ext cx="2606040" cy="2834640"/>
          </a:xfrm>
          <a:prstGeom prst="roundRect">
            <a:avLst/>
          </a:prstGeom>
          <a:solidFill>
            <a:srgbClr val="F5E6E0"/>
          </a:solidFill>
          <a:ln w="9525">
            <a:solidFill>
              <a:srgbClr val="C5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301752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C58A6B"/>
                </a:solidFill>
                <a:latin typeface="Calibri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023360"/>
            <a:ext cx="2148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spent by competitors on reaching out. Their tools wait for volunteers to act. Volunteers stop acting.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THE STATUS QUO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What 2026 volunteer software still looks like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2C2C2C"/>
                </a:solidFill>
                <a:latin typeface="Calibri"/>
              </a:rPr>
              <a:t>All of today's tools are admin dashboards. None of them reach out to volunteers on their 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2926080" cy="594360"/>
          </a:xfrm>
          <a:prstGeom prst="roundRect">
            <a:avLst/>
          </a:prstGeom>
          <a:solidFill>
            <a:srgbClr val="F1ECE4"/>
          </a:solidFill>
          <a:ln w="9525">
            <a:solidFill>
              <a:srgbClr val="9C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Web sign-up 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65176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Volunteer must visit, log in, click a slot. No outreach.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26517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SignUpGenius, VolunteerLocal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19272"/>
            <a:ext cx="2926080" cy="594360"/>
          </a:xfrm>
          <a:prstGeom prst="roundRect">
            <a:avLst/>
          </a:prstGeom>
          <a:solidFill>
            <a:srgbClr val="F1ECE4"/>
          </a:solidFill>
          <a:ln w="9525">
            <a:solidFill>
              <a:srgbClr val="9C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319272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CRM-style platforms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64992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Volunteer profile + event schedule. Admin still works the phones.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336499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Bloomerang Volunteer, Better Impact, Galaxy Digital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32504"/>
            <a:ext cx="2926080" cy="594360"/>
          </a:xfrm>
          <a:prstGeom prst="roundRect">
            <a:avLst/>
          </a:prstGeom>
          <a:solidFill>
            <a:srgbClr val="F1ECE4"/>
          </a:solidFill>
          <a:ln w="9525">
            <a:solidFill>
              <a:srgbClr val="9C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032504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Group chat sprawl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078224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WhatsApp, GroupMe, Discord. No structure, no compliance, no 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4078224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Ad-hoc adoption everywhere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45736"/>
            <a:ext cx="2926080" cy="594360"/>
          </a:xfrm>
          <a:prstGeom prst="roundRect">
            <a:avLst/>
          </a:prstGeom>
          <a:solidFill>
            <a:srgbClr val="F1ECE4"/>
          </a:solidFill>
          <a:ln w="9525">
            <a:solidFill>
              <a:srgbClr val="9C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745736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Spreadsheets + email blasts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791456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Free, manual, brittle. Default fallback for under-resourced orgs.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479145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Google Sheets + Mailchimp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58968"/>
            <a:ext cx="2926080" cy="594360"/>
          </a:xfrm>
          <a:prstGeom prst="roundRect">
            <a:avLst/>
          </a:prstGeom>
          <a:solidFill>
            <a:srgbClr val="F1ECE4"/>
          </a:solidFill>
          <a:ln w="9525">
            <a:solidFill>
              <a:srgbClr val="9C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458968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Call-center stacks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504688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Built for enterprise CX teams. $100K+ implementations.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550468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Five9, Twilio Flex, Genesys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An autonomous agent that runs your volunteer program.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2C2C2C"/>
                </a:solidFill>
                <a:latin typeface="Calibri"/>
              </a:rPr>
              <a:t>Volunteers interact entirely by text (and soon voice). Coordinators move from doing the work to supervising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3611880" cy="150876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B7AB8"/>
                </a:solidFill>
                <a:latin typeface="Calibri"/>
              </a:rPr>
              <a:t>Recruits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Picks the right volunteers per event and reaches out in waves.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788920"/>
            <a:ext cx="3611880" cy="150876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29718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B7AB8"/>
                </a:solidFill>
                <a:latin typeface="Calibri"/>
              </a:rPr>
              <a:t>Schedules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342900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Books, confirms, handles reschedules, sends calendar invites.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2788920"/>
            <a:ext cx="3611880" cy="150876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0184" y="29718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B7AB8"/>
                </a:solidFill>
                <a:latin typeface="Calibri"/>
              </a:rPr>
              <a:t>Reminds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342900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Personalized nudges before each event — no spam, no opt-out churn.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3611880" cy="150876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B7AB8"/>
                </a:solidFill>
                <a:latin typeface="Calibri"/>
              </a:rPr>
              <a:t>Checks in &amp;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Volunteers text 'HERE' / 'DONE'. Admin sees live roster in real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4434840"/>
            <a:ext cx="3611880" cy="150876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9432" y="461772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B7AB8"/>
                </a:solidFill>
                <a:latin typeface="Calibri"/>
              </a:rPr>
              <a:t>Recognizes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507492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Tracks hours, grants milestones and badges, surfaces top performers.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4" y="4434840"/>
            <a:ext cx="3611880" cy="150876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4" y="461772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B7AB8"/>
                </a:solidFill>
                <a:latin typeface="Calibri"/>
              </a:rPr>
              <a:t>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507492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Daily SMS update to the admin — what's filled, what's at risk, what to act 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Voice arrives next — same agent, new channel.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2C2C2C"/>
                </a:solidFill>
                <a:latin typeface="Calibri"/>
              </a:rPr>
              <a:t>SMS reaches the volunteers who text. Voice reaches everyone else — and unlocks higher-fidelity moments that text can't.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5440680" cy="338328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5B7AB8"/>
                </a:solidFill>
                <a:latin typeface="Calibri"/>
              </a:rPr>
              <a:t>SMS Agent — shipping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48920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2C2C2C"/>
                </a:solidFill>
                <a:latin typeface="Calibri"/>
              </a:rPr>
              <a:t>•   Inbound + outbound text on tenant Twilio number.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>
                <a:solidFill>
                  <a:srgbClr val="2C2C2C"/>
                </a:solidFill>
                <a:latin typeface="Calibri"/>
              </a:rPr>
              <a:t>•   Free-form NLU: "im running 5 min late" works.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>
                <a:solidFill>
                  <a:srgbClr val="2C2C2C"/>
                </a:solidFill>
                <a:latin typeface="Calibri"/>
              </a:rPr>
              <a:t>•   Per-tenant prompts, brand voice, opt-out compliance.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>
                <a:solidFill>
                  <a:srgbClr val="2C2C2C"/>
                </a:solidFill>
                <a:latin typeface="Calibri"/>
              </a:rPr>
              <a:t>•   Reaches younger and screen-fluent volunteers.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440680" cy="3383280"/>
          </a:xfrm>
          <a:prstGeom prst="roundRect">
            <a:avLst/>
          </a:prstGeom>
          <a:solidFill>
            <a:srgbClr val="E4EDE3"/>
          </a:solidFill>
          <a:ln w="9525">
            <a:solidFill>
              <a:srgbClr val="7BA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97180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BA070"/>
                </a:solidFill>
                <a:latin typeface="Calibri"/>
              </a:rPr>
              <a:t>Voice Agent — Q1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66160"/>
            <a:ext cx="48920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2C2C2C"/>
                </a:solidFill>
                <a:latin typeface="Calibri"/>
              </a:rPr>
              <a:t>•   Outbound confirmation calls — TCPA-compliant.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>
                <a:solidFill>
                  <a:srgbClr val="2C2C2C"/>
                </a:solidFill>
                <a:latin typeface="Calibri"/>
              </a:rPr>
              <a:t>•   Reaches older volunteers who don't reliably text.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>
                <a:solidFill>
                  <a:srgbClr val="2C2C2C"/>
                </a:solidFill>
                <a:latin typeface="Calibri"/>
              </a:rPr>
              <a:t>•   Real-time wellness checks for senior-volunteer programs.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>
                <a:solidFill>
                  <a:srgbClr val="2C2C2C"/>
                </a:solidFill>
                <a:latin typeface="Calibri"/>
              </a:rPr>
              <a:t>•   Inbound IVR replaced by natural conversation.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>
                <a:solidFill>
                  <a:srgbClr val="2C2C2C"/>
                </a:solidFill>
                <a:latin typeface="Calibri"/>
              </a:rPr>
              <a:t>•   Same agent brain — only the channel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Four tailwinds converging at the same moment.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2194560"/>
            <a:ext cx="5440680" cy="182880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AI cost has fallen 100× in 18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Haiku-class models make a per-message AI tier economically viable for nonprofit budgets. Voice models (Whisper, ElevenLabs, Deepgram) cleared the latency bar in late 2025.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94560"/>
            <a:ext cx="5440680" cy="1828800"/>
          </a:xfrm>
          <a:prstGeom prst="roundRect">
            <a:avLst/>
          </a:prstGeom>
          <a:solidFill>
            <a:srgbClr val="F5E6E0"/>
          </a:solidFill>
          <a:ln w="9525">
            <a:solidFill>
              <a:srgbClr val="C5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242316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Post-COVID volunteer recovery is stalling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971800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Active volunteer counts are still ~33% below 2019. Coordinators feel the gap. Demand for 'more leverage per coordinator' is structurally higher than it was 3 years ago.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06240"/>
            <a:ext cx="5440680" cy="1828800"/>
          </a:xfrm>
          <a:prstGeom prst="roundRect">
            <a:avLst/>
          </a:prstGeom>
          <a:solidFill>
            <a:srgbClr val="E4EDE3"/>
          </a:solidFill>
          <a:ln w="9525">
            <a:solidFill>
              <a:srgbClr val="7BA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SMS compliance has stabilized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10DLC registration, opt-in / opt-out standards, and Twilio sub-account economics are now mature enough that a purpose-built SMS product can ship cleanly.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206240"/>
            <a:ext cx="5440680" cy="1828800"/>
          </a:xfrm>
          <a:prstGeom prst="roundRect">
            <a:avLst/>
          </a:prstGeom>
          <a:solidFill>
            <a:srgbClr val="EDE3F2"/>
          </a:solidFill>
          <a:ln w="9525">
            <a:solidFill>
              <a:srgbClr val="94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443484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Voice AI just crossed the conversational 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983480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Sub-300ms end-to-end response with natural prosody is finally real. Conversational TCPA-compliant outbound is a 2026 product, not a 2028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Nobody is doing autonomous, multi-channel volunteer ops.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itch_competition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858000" cy="4966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874519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7AB8"/>
                </a:solidFill>
                <a:latin typeface="Calibri"/>
              </a:rP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286000"/>
            <a:ext cx="3703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Everyone else built admin software.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200400"/>
            <a:ext cx="37033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We built a volunteer-facing agent that admins supervise. The market has no incumbent that's both autonomous AND multi-channel — that's the quadrant we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93776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7AB8"/>
                </a:solidFill>
                <a:latin typeface="Calibri"/>
              </a:rPr>
              <a:t>WHY THEY HAVEN'T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5303520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2C2C2C"/>
                </a:solidFill>
                <a:latin typeface="Calibri"/>
              </a:rPr>
              <a:t>•   Legacy code · CRM mindset.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2C2C2C"/>
                </a:solidFill>
                <a:latin typeface="Calibri"/>
              </a:rPr>
              <a:t>•   AI cost only became viable in 2025.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2C2C2C"/>
                </a:solidFill>
                <a:latin typeface="Calibri"/>
              </a:rPr>
              <a:t>•   Voice agents only got good in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TAM / SAM / SOM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Market size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itch_market_si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313" y="1028700"/>
            <a:ext cx="8365502" cy="50065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Volunteer-mgmt software is small but underserved by AI. Adjacent expansions (donations, event ops) extend the addressable spend per tenant by ~3×.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ARCHITECTURE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Why a generic AI assistant won't catch us.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10911535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2C2C2C"/>
                </a:solidFill>
                <a:latin typeface="Calibri"/>
              </a:rPr>
              <a:t>We built a layered system that makes AI cheap, reliable, and auditable — not just plausible.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7AB8"/>
                </a:solidFill>
                <a:latin typeface="Calibri"/>
              </a:rPr>
              <a:t>OUR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48463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2C2C2C"/>
                </a:solidFill>
                <a:latin typeface="Calibri"/>
              </a:rPr>
              <a:t>•   Hybrid intent stack: rules → small AI → full AI. 80–90% of messages cost $0.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>
                <a:solidFill>
                  <a:srgbClr val="2C2C2C"/>
                </a:solidFill>
                <a:latin typeface="Calibri"/>
              </a:rPr>
              <a:t>•   Multi-tenant from day one — onboarding in minutes, schema migrations apply once.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>
                <a:solidFill>
                  <a:srgbClr val="2C2C2C"/>
                </a:solidFill>
                <a:latin typeface="Calibri"/>
              </a:rPr>
              <a:t>•   Agent architecture: Engagement, Recruiter+Scheduler, Marketing — independently evolvable.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>
                <a:solidFill>
                  <a:srgbClr val="2C2C2C"/>
                </a:solidFill>
                <a:latin typeface="Calibri"/>
              </a:rPr>
              <a:t>•   Audit-by-default: every routing decision logged. Compliance-ready posture.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>
                <a:solidFill>
                  <a:srgbClr val="2C2C2C"/>
                </a:solidFill>
                <a:latin typeface="Calibri"/>
              </a:rPr>
              <a:t>•   Soft-fail external dependencies — Twilio / Anthropic / Google outages degrade, don't break.</a:t>
            </a:r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86000"/>
            <a:ext cx="5486400" cy="40126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852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Calibri"/>
              </a:rPr>
              <a:t>Full system architecture — see companion brief.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Tiered pricing — designed for nonprofit budgets.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C2C2C"/>
                </a:solidFill>
                <a:latin typeface="Calibri"/>
              </a:rPr>
              <a:t>Free tier seeds adoption. Paid tiers scale with active volunteers and unlock the agent + the channels that drive ROI.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2625013" cy="3611880"/>
          </a:xfrm>
          <a:prstGeom prst="roundRect">
            <a:avLst/>
          </a:prstGeom>
          <a:solidFill>
            <a:srgbClr val="F1ECE4"/>
          </a:solidFill>
          <a:ln w="9525">
            <a:solidFill>
              <a:srgbClr val="9C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22592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9C8F76"/>
                </a:solidFill>
                <a:latin typeface="Calibri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225925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2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&lt;50 active vols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259253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2C2C2C"/>
                </a:solidFill>
                <a:latin typeface="Calibri"/>
              </a:rPr>
              <a:t>•   Inbound SMS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Basic scheduling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mustr branding on SMS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Community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22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C8F76"/>
                </a:solidFill>
                <a:latin typeface="Calibri"/>
              </a:rPr>
              <a:t>LEAD-GEN 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2253" y="2606040"/>
            <a:ext cx="2625013" cy="361188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85133" y="2788920"/>
            <a:ext cx="22592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B7AB8"/>
                </a:solidFill>
                <a:latin typeface="Calibri"/>
              </a:rP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5133" y="3108960"/>
            <a:ext cx="225925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$99 /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5133" y="3703320"/>
            <a:ext cx="22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Up to 250 vols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5133" y="4023360"/>
            <a:ext cx="2259253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2C2C2C"/>
                </a:solidFill>
                <a:latin typeface="Calibri"/>
              </a:rPr>
              <a:t>•   Full SMS Agent (engagement)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Reminders &amp; follow-up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Recognition (basic)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Email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5133" y="5852160"/>
            <a:ext cx="22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B7AB8"/>
                </a:solidFill>
                <a:latin typeface="Calibri"/>
              </a:rPr>
              <a:t>MOST SMB NONPROFITS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606040"/>
            <a:ext cx="2625013" cy="3611880"/>
          </a:xfrm>
          <a:prstGeom prst="roundRect">
            <a:avLst/>
          </a:prstGeom>
          <a:solidFill>
            <a:srgbClr val="E4EDE3"/>
          </a:solidFill>
          <a:ln w="9525">
            <a:solidFill>
              <a:srgbClr val="7BA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7307" y="2788920"/>
            <a:ext cx="22592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BA070"/>
                </a:solidFill>
                <a:latin typeface="Calibri"/>
              </a:rPr>
              <a:t>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3108960"/>
            <a:ext cx="225925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$299 /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3703320"/>
            <a:ext cx="22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Up to 1,000 vols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023360"/>
            <a:ext cx="2259253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2C2C2C"/>
                </a:solidFill>
                <a:latin typeface="Calibri"/>
              </a:rPr>
              <a:t>•   Recruiter Agent (autonomous fill)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Multi-event + roster sharing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Full recognition + analytics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200 Voice minutes / mo *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Priority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307" y="5852160"/>
            <a:ext cx="22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BA070"/>
                </a:solidFill>
                <a:latin typeface="Calibri"/>
              </a:rPr>
              <a:t>GROWING NONPROFITS + FEDERATIONS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6601" y="2606040"/>
            <a:ext cx="2625013" cy="3611880"/>
          </a:xfrm>
          <a:prstGeom prst="roundRect">
            <a:avLst/>
          </a:prstGeom>
          <a:solidFill>
            <a:srgbClr val="EDE3F2"/>
          </a:solidFill>
          <a:ln w="9525">
            <a:solidFill>
              <a:srgbClr val="94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09481" y="2788920"/>
            <a:ext cx="22592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9474A6"/>
                </a:solidFill>
                <a:latin typeface="Calibri"/>
              </a:rPr>
              <a:t>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9481" y="3108960"/>
            <a:ext cx="225925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from $999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9481" y="3703320"/>
            <a:ext cx="22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Unlimited vols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9481" y="4023360"/>
            <a:ext cx="2259253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2C2C2C"/>
                </a:solidFill>
                <a:latin typeface="Calibri"/>
              </a:rPr>
              <a:t>•   Full Voice Agent (with overage)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SSO + custom integrations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Pluggable CRM/HRIS adapters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Dedicated CSM + SLA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10DLC sub-account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9481" y="5852160"/>
            <a:ext cx="22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74A6"/>
                </a:solidFill>
                <a:latin typeface="Calibri"/>
              </a:rPr>
              <a:t>DENOMINATIONS · STAFFING CO'S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179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* Voice ships Q1 2027 (Beta) / Q2 2027 (GA). Overage: $0.07/min. SMS pass-through included up to tier cap; overages billed at $0.012 / message.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$99 / month works — here's the math.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 dirty="0">
                <a:solidFill>
                  <a:srgbClr val="2C2C2C"/>
                </a:solidFill>
                <a:latin typeface="Calibri"/>
              </a:rPr>
              <a:t>A typical Growth-tier tenant: 250 active volunteers, ~10 events / month, ~2,000 SMS / month.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2710"/>
            <a:ext cx="5440680" cy="233172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8559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5B7AB8"/>
                </a:solidFill>
                <a:latin typeface="Calibri"/>
              </a:rPr>
              <a:t>USAGE PER TENANT /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279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Active volunteers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74279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≤ 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882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Events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99882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~10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5485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SMS messages (in + out)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254854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~2,000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1088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Tier 1 (regex)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510886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~85% of inbound → 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6691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Tier 2 (Haiku classifier)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76691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~10% → ~$0.0001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295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Tier 3 (full LLM)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402295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~5% → ~$0.036 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102710"/>
            <a:ext cx="5440680" cy="2331720"/>
          </a:xfrm>
          <a:prstGeom prst="roundRect">
            <a:avLst/>
          </a:prstGeom>
          <a:solidFill>
            <a:srgbClr val="F5E6E0"/>
          </a:solidFill>
          <a:ln w="9525">
            <a:solidFill>
              <a:srgbClr val="C5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228559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58A6B"/>
                </a:solidFill>
                <a:latin typeface="Calibri"/>
              </a:rPr>
              <a:t>WHAT IT COSTS US /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4279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SMS pass-through (Twilio)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74279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$16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9882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AI inference (hybrid stack)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99882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$1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5485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Infrastructure (DB + compute)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25485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$5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51088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Support (batched, AI-assisted)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51088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$10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0" y="3840070"/>
            <a:ext cx="4892040" cy="0"/>
          </a:xfrm>
          <a:prstGeom prst="line">
            <a:avLst/>
          </a:prstGeom>
          <a:ln w="9525">
            <a:solidFill>
              <a:srgbClr val="C58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0" y="393151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58A6B"/>
                </a:solidFill>
                <a:latin typeface="Calibri"/>
              </a:rPr>
              <a:t>TOTAL COGS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88579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1A1A1A"/>
                </a:solidFill>
                <a:latin typeface="Calibri"/>
              </a:rPr>
              <a:t>$32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17310"/>
            <a:ext cx="7040880" cy="1417320"/>
          </a:xfrm>
          <a:prstGeom prst="roundRect">
            <a:avLst/>
          </a:prstGeom>
          <a:solidFill>
            <a:srgbClr val="E4EDE3"/>
          </a:solidFill>
          <a:ln w="9525">
            <a:solidFill>
              <a:srgbClr val="7BA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480019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BA070"/>
                </a:solidFill>
                <a:latin typeface="Calibri"/>
              </a:rPr>
              <a:t>GROSS MARGIN AT $99 / 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12023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$67 / mo  ·  68%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120230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2C2C2C"/>
                </a:solidFill>
                <a:latin typeface="Calibri"/>
              </a:rPr>
              <a:t>Healthy SaaS-class margin while keeping the price where SMB nonprofits can buy without procurement.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4617310"/>
            <a:ext cx="3642055" cy="14173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38160" y="4754470"/>
            <a:ext cx="3184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55555"/>
                </a:solidFill>
                <a:latin typeface="Calibri"/>
              </a:rPr>
              <a:t>AI-ONLY ARCHITECTURE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5028790"/>
            <a:ext cx="3184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$67 COGS  →  32% margin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5440270"/>
            <a:ext cx="31848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  <a:latin typeface="Calibri"/>
              </a:rPr>
              <a:t>Hybrid stack saves ~$35 / tenant / mo. At 1,000 paying tenants, that's ~$420K / yr in gross profit recovered by the architecture.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2179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Assumes US 10DLC SMS at ~$0.008 / msg, Sonnet at $3 / MTok in + $15 / MTok out for Tier 3 (~$0.036 avg / call), Haiku at ~$0.0001 / call for Tier 2. Pro tier ($299) holds ~50% margin at 4× usage including 200 voice minutes.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Three motions, one funnel.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2C2C2C"/>
                </a:solidFill>
                <a:latin typeface="Calibri"/>
              </a:rPr>
              <a:t>Self-serve at the bottom, sales-assisted in the middle, partner-led at the 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3515258" cy="352044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305805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B7AB8"/>
                </a:solidFill>
                <a:latin typeface="Calibri"/>
              </a:rPr>
              <a:t>Bottoms-up (PLG)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Starter and Growth tiers, self-serve.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3058058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2C2C2C"/>
                </a:solidFill>
                <a:latin typeface="Calibri"/>
              </a:rPr>
              <a:t>•   Inbound from community forums (NTEN, VolunteerMatch, faith ops Facebook groups).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Free tier with mustr branding drives word-of-mouth from the volunteers themselves.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Donation feature unlocks as the conversion hook.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23560"/>
            <a:ext cx="30580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5B7AB8"/>
                </a:solidFill>
                <a:latin typeface="Calibri"/>
              </a:rPr>
              <a:t>Goal: 1,000 free tenants by Q4 2026 → ~10% conversion to paid.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697480"/>
            <a:ext cx="3515258" cy="3520440"/>
          </a:xfrm>
          <a:prstGeom prst="roundRect">
            <a:avLst/>
          </a:prstGeom>
          <a:solidFill>
            <a:srgbClr val="E4EDE3"/>
          </a:solidFill>
          <a:ln w="9525">
            <a:solidFill>
              <a:srgbClr val="7BA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6818" y="2880360"/>
            <a:ext cx="305805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7BA070"/>
                </a:solidFill>
                <a:latin typeface="Calibri"/>
              </a:rPr>
              <a:t>Sales-assisted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3337560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Pro tier, light-touch outbound.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3703320"/>
            <a:ext cx="3058058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2C2C2C"/>
                </a:solidFill>
                <a:latin typeface="Calibri"/>
              </a:rPr>
              <a:t>•   SDR cohort targeting mid-size nonprofits and event-staffing agencies.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Case-study driven: published 'we ran X's food drive' wins.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Demo flow: 7-day pilot to first booked event.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5623560"/>
            <a:ext cx="30580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7BA070"/>
                </a:solidFill>
                <a:latin typeface="Calibri"/>
              </a:rPr>
              <a:t>Goal: 200 Pro tenants by Q4 2026, ARR $700K.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6356" y="2697480"/>
            <a:ext cx="3515258" cy="3520440"/>
          </a:xfrm>
          <a:prstGeom prst="roundRect">
            <a:avLst/>
          </a:prstGeom>
          <a:solidFill>
            <a:srgbClr val="EDE3F2"/>
          </a:solidFill>
          <a:ln w="9525">
            <a:solidFill>
              <a:srgbClr val="94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4956" y="2880360"/>
            <a:ext cx="305805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9474A6"/>
                </a:solidFill>
                <a:latin typeface="Calibri"/>
              </a:rPr>
              <a:t>Partner-led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956" y="3337560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Enterprise tier, multi-tenant deals.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956" y="3703320"/>
            <a:ext cx="3058058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2C2C2C"/>
                </a:solidFill>
                <a:latin typeface="Calibri"/>
              </a:rPr>
              <a:t>•   Denominational HQs (10–500 churches each).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Nonprofit federations (United Way, Catholic Charities).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50">
                <a:solidFill>
                  <a:srgbClr val="2C2C2C"/>
                </a:solidFill>
                <a:latin typeface="Calibri"/>
              </a:rPr>
              <a:t>•   Event-staffing networks: one sale → many tenants.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4956" y="5623560"/>
            <a:ext cx="30580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9474A6"/>
                </a:solidFill>
                <a:latin typeface="Calibri"/>
              </a:rPr>
              <a:t>Goal: 10 partner deals by mid-2027, ~250 tenants captured.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What ships, when.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itch_roadma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0927080" cy="45712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2C2C2C"/>
                </a:solidFill>
                <a:latin typeface="Calibri"/>
              </a:rPr>
              <a:t>Voice is the inflection. SMS gets us into the building; Voice triples our addressable channel reach and unlocks demographics SMS-only tools can't serve (older volunteers, wellness-check programs, low-literacy contexts).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7AB8"/>
                </a:solidFill>
                <a:latin typeface="Calibri"/>
              </a:rPr>
              <a:t>TRACTION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Where we are and what we need.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1153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874519"/>
            <a:ext cx="5440680" cy="429768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5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19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5B7AB8"/>
                </a:solidFill>
                <a:latin typeface="Calibri"/>
              </a:rPr>
              <a:t>Where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59"/>
            <a:ext cx="489204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2C2C2C"/>
                </a:solidFill>
                <a:latin typeface="Calibri"/>
              </a:rPr>
              <a:t>•   Platform shipped: 5-phase event lifecycle (check-in, check-out, mid-event SWITCH, post-event review, recognition).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  <a:latin typeface="Calibri"/>
              </a:rPr>
              <a:t>•   Multi-tenant architecture in production with row-level isolation and per-tenant credentials.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  <a:latin typeface="Calibri"/>
              </a:rPr>
              <a:t>•   Hybrid intent stack (regex → Haiku → full LLM) live.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  <a:latin typeface="Calibri"/>
              </a:rPr>
              <a:t>•   Pilot tenants: 3 active, ~600 volunteers under management.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  <a:latin typeface="Calibri"/>
              </a:rPr>
              <a:t>•   Token cost / message: trending below $0.001.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74519"/>
            <a:ext cx="5440680" cy="4297680"/>
          </a:xfrm>
          <a:prstGeom prst="roundRect">
            <a:avLst/>
          </a:prstGeom>
          <a:solidFill>
            <a:srgbClr val="E4EDE3"/>
          </a:solidFill>
          <a:ln w="9525">
            <a:solidFill>
              <a:srgbClr val="7BA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03119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BA070"/>
                </a:solidFill>
                <a:latin typeface="Calibri"/>
              </a:rPr>
              <a:t>What we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199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Series Seed — $2.5M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79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18-month runway to Voice GA + 500 paid tenants.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86199"/>
            <a:ext cx="48920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2C2C2C"/>
                </a:solidFill>
                <a:latin typeface="Calibri"/>
              </a:rPr>
              <a:t>•   Voice engineering (~$700K, 4 hires).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50">
                <a:solidFill>
                  <a:srgbClr val="2C2C2C"/>
                </a:solidFill>
                <a:latin typeface="Calibri"/>
              </a:rPr>
              <a:t>•   Sales + partnerships (~$900K, 3 hires).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50">
                <a:solidFill>
                  <a:srgbClr val="2C2C2C"/>
                </a:solidFill>
                <a:latin typeface="Calibri"/>
              </a:rPr>
              <a:t>•   Compliance: 10DLC, TCPA, SOC 2 prep (~$300K).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50">
                <a:solidFill>
                  <a:srgbClr val="2C2C2C"/>
                </a:solidFill>
                <a:latin typeface="Calibri"/>
              </a:rPr>
              <a:t>•   Working capital, infra, AI spend (~$600K).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mustr  ·  Volunteer ops on autopilot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B7AB8"/>
                </a:solidFill>
                <a:latin typeface="Calibri"/>
              </a:rP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1A1A1A"/>
                </a:solidFill>
                <a:latin typeface="Calibri"/>
              </a:rPr>
              <a:t>An autopilot for volunteer 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SMS today, voice next, one agent across both.
We're filling a quadrant the incumbents can't reach: autonomous, multi-channel volunteer ops at a price nonprofits can afford. The architecture is built for the next decade of AI-priced software — cheap where it can be, reliable where it must be, auditable everywhere.
Let's run your next event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Contact: founders@mustr.app  ·  mustr.app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1929</Words>
  <Application>Microsoft Office PowerPoint</Application>
  <PresentationFormat>Widescreen</PresentationFormat>
  <Paragraphs>235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 Gera</cp:lastModifiedBy>
  <cp:revision>2</cp:revision>
  <dcterms:created xsi:type="dcterms:W3CDTF">2013-01-27T09:14:16Z</dcterms:created>
  <dcterms:modified xsi:type="dcterms:W3CDTF">2026-06-03T00:33:11Z</dcterms:modified>
  <cp:category/>
</cp:coreProperties>
</file>
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604"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94560"/>
            <a:ext cx="10332720" cy="365760"/>
          </a:xfrm>
          <a:prstGeom prst="rect">
            <a:avLst/>
          </a:prstGeom>
          <a:noFill/>
        </p:spPr>
        <p:txBody>
          <a:bodyPr wrap="square" lIns="0" tIns="0" rIns="0" bIns="0" anchor="t">
            <a:spAutoFit/>
          </a:bodyPr>
          <a:lstStyle/>
          <a:p>
            <a:pPr algn="l"/>
            <a:r>
              <a:rPr sz="1200" b="1" i="0">
                <a:solidFill>
                  <a:srgbClr val="5B7AB8"/>
                </a:solidFill>
                <a:latin typeface="Calibri"/>
              </a:rPr>
              <a:t>ARCHITECTURE OVERVIEW</a:t>
            </a:r>
          </a:p>
        </p:txBody>
      </p:sp>
      <p:sp>
        <p:nvSpPr>
          <p:cNvPr id="4" name="TextBox 3"/>
          <p:cNvSpPr txBox="1"/>
          <p:nvPr/>
        </p:nvSpPr>
        <p:spPr>
          <a:xfrm>
            <a:off x="914400" y="2651760"/>
            <a:ext cx="10332720" cy="1371600"/>
          </a:xfrm>
          <a:prstGeom prst="rect">
            <a:avLst/>
          </a:prstGeom>
          <a:noFill/>
        </p:spPr>
        <p:txBody>
          <a:bodyPr wrap="square" lIns="0" tIns="0" rIns="0" bIns="0" anchor="t">
            <a:spAutoFit/>
          </a:bodyPr>
          <a:lstStyle/>
          <a:p>
            <a:pPr algn="l"/>
            <a:r>
              <a:rPr sz="4400" b="1" i="0">
                <a:solidFill>
                  <a:srgbClr val="1A1A1A"/>
                </a:solidFill>
                <a:latin typeface="Calibri"/>
              </a:rPr>
              <a:t>Volunteer Engagement Platform</a:t>
            </a:r>
          </a:p>
        </p:txBody>
      </p:sp>
      <p:sp>
        <p:nvSpPr>
          <p:cNvPr id="5" name="TextBox 4"/>
          <p:cNvSpPr txBox="1"/>
          <p:nvPr/>
        </p:nvSpPr>
        <p:spPr>
          <a:xfrm>
            <a:off x="914400" y="3840480"/>
            <a:ext cx="10332720" cy="914400"/>
          </a:xfrm>
          <a:prstGeom prst="rect">
            <a:avLst/>
          </a:prstGeom>
          <a:noFill/>
        </p:spPr>
        <p:txBody>
          <a:bodyPr wrap="square" lIns="0" tIns="0" rIns="0" bIns="0" anchor="t">
            <a:spAutoFit/>
          </a:bodyPr>
          <a:lstStyle/>
          <a:p>
            <a:pPr algn="l"/>
            <a:r>
              <a:rPr sz="1800" b="0" i="1">
                <a:solidFill>
                  <a:srgbClr val="555555"/>
                </a:solidFill>
                <a:latin typeface="Calibri"/>
              </a:rPr>
              <a:t>Multi-tenant SaaS  ·  SMS-first volunteer operations  ·  AI-assisted</a:t>
            </a:r>
          </a:p>
        </p:txBody>
      </p:sp>
      <p:sp>
        <p:nvSpPr>
          <p:cNvPr id="6" name="TextBox 5"/>
          <p:cNvSpPr txBox="1"/>
          <p:nvPr/>
        </p:nvSpPr>
        <p:spPr>
          <a:xfrm>
            <a:off x="914400" y="6126480"/>
            <a:ext cx="10332720" cy="365760"/>
          </a:xfrm>
          <a:prstGeom prst="rect">
            <a:avLst/>
          </a:prstGeom>
          <a:noFill/>
        </p:spPr>
        <p:txBody>
          <a:bodyPr wrap="square" lIns="0" tIns="0" rIns="0" bIns="0" anchor="t">
            <a:spAutoFit/>
          </a:bodyPr>
          <a:lstStyle/>
          <a:p>
            <a:pPr algn="l"/>
            <a:r>
              <a:rPr sz="1200" b="0" i="0">
                <a:solidFill>
                  <a:srgbClr val="888888"/>
                </a:solidFill>
                <a:latin typeface="Calibri"/>
              </a:rPr>
              <a:t>Executive briefing  ·  June 2026</a:t>
            </a:r>
          </a:p>
        </p:txBody>
      </p:sp>
      <p:pic>
        <p:nvPicPr>
          <p:cNvPr id="12" name="Picture 11">
            <a:extLst>
              <a:ext uri="{FF2B5EF4-FFF2-40B4-BE49-F238E27FC236}">
                <a16:creationId xmlns:a16="http://schemas.microsoft.com/office/drawing/2014/main" id="{60EF5FFC-C742-21B3-11C6-171470DE1D29}"/>
              </a:ext>
            </a:extLst>
          </p:cNvPr>
          <p:cNvPicPr>
            <a:picLocks noChangeAspect="1"/>
          </p:cNvPicPr>
          <p:nvPr/>
        </p:nvPicPr>
        <p:blipFill>
          <a:blip r:embed="rId2"/>
          <a:stretch>
            <a:fillRect/>
          </a:stretch>
        </p:blipFill>
        <p:spPr>
          <a:xfrm>
            <a:off x="8598602" y="153778"/>
            <a:ext cx="3283119" cy="7620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THE PLATFORM</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What we built</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0911535" cy="731520"/>
          </a:xfrm>
          <a:prstGeom prst="rect">
            <a:avLst/>
          </a:prstGeom>
          <a:noFill/>
        </p:spPr>
        <p:txBody>
          <a:bodyPr wrap="square" lIns="0" tIns="0" rIns="0" bIns="0" anchor="t">
            <a:spAutoFit/>
          </a:bodyPr>
          <a:lstStyle/>
          <a:p>
            <a:pPr algn="l"/>
            <a:r>
              <a:rPr sz="1800" b="0" i="0">
                <a:solidFill>
                  <a:srgbClr val="2C2C2C"/>
                </a:solidFill>
                <a:latin typeface="Calibri"/>
              </a:rPr>
              <a:t>A multi-tenant SaaS that automates the full operational lifecycle of volunteer events — from recruiting and booking, through day-of check-in and check-out, to post-event review and recognition.</a:t>
            </a:r>
          </a:p>
        </p:txBody>
      </p:sp>
      <p:sp>
        <p:nvSpPr>
          <p:cNvPr id="6" name="Rounded Rectangle 5"/>
          <p:cNvSpPr/>
          <p:nvPr/>
        </p:nvSpPr>
        <p:spPr>
          <a:xfrm>
            <a:off x="685800" y="3657600"/>
            <a:ext cx="3520440" cy="2286000"/>
          </a:xfrm>
          <a:prstGeom prst="roundRect">
            <a:avLst/>
          </a:prstGeom>
          <a:solidFill>
            <a:srgbClr val="E8EEF7"/>
          </a:solidFill>
          <a:ln w="9525">
            <a:solidFill>
              <a:srgbClr val="5B7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840480"/>
            <a:ext cx="2971800" cy="457200"/>
          </a:xfrm>
          <a:prstGeom prst="rect">
            <a:avLst/>
          </a:prstGeom>
          <a:noFill/>
        </p:spPr>
        <p:txBody>
          <a:bodyPr wrap="square" lIns="0" tIns="0" rIns="0" bIns="0" anchor="t">
            <a:spAutoFit/>
          </a:bodyPr>
          <a:lstStyle/>
          <a:p>
            <a:pPr algn="l"/>
            <a:r>
              <a:rPr sz="2000" b="1" i="0">
                <a:solidFill>
                  <a:srgbClr val="1A1A1A"/>
                </a:solidFill>
                <a:latin typeface="Calibri"/>
              </a:rPr>
              <a:t>Multi-tenant</a:t>
            </a:r>
          </a:p>
        </p:txBody>
      </p:sp>
      <p:sp>
        <p:nvSpPr>
          <p:cNvPr id="8" name="TextBox 7"/>
          <p:cNvSpPr txBox="1"/>
          <p:nvPr/>
        </p:nvSpPr>
        <p:spPr>
          <a:xfrm>
            <a:off x="960120" y="4434840"/>
            <a:ext cx="2971800" cy="1371600"/>
          </a:xfrm>
          <a:prstGeom prst="rect">
            <a:avLst/>
          </a:prstGeom>
          <a:noFill/>
        </p:spPr>
        <p:txBody>
          <a:bodyPr wrap="square" lIns="0" tIns="0" rIns="0" bIns="0" anchor="t">
            <a:spAutoFit/>
          </a:bodyPr>
          <a:lstStyle/>
          <a:p>
            <a:pPr algn="l"/>
            <a:r>
              <a:rPr sz="1300" b="0" i="0">
                <a:solidFill>
                  <a:srgbClr val="2C2C2C"/>
                </a:solidFill>
                <a:latin typeface="Calibri"/>
              </a:rPr>
              <a:t>Each tenant has its own data, credentials, prompts, and brand voice. Row-level isolation across every table.</a:t>
            </a:r>
          </a:p>
        </p:txBody>
      </p:sp>
      <p:sp>
        <p:nvSpPr>
          <p:cNvPr id="9" name="Rounded Rectangle 8"/>
          <p:cNvSpPr/>
          <p:nvPr/>
        </p:nvSpPr>
        <p:spPr>
          <a:xfrm>
            <a:off x="4434840" y="3657600"/>
            <a:ext cx="3520440" cy="2286000"/>
          </a:xfrm>
          <a:prstGeom prst="roundRect">
            <a:avLst/>
          </a:prstGeom>
          <a:solidFill>
            <a:srgbClr val="E4EDE3"/>
          </a:solidFill>
          <a:ln w="9525">
            <a:solidFill>
              <a:srgbClr val="7BA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160" y="3840480"/>
            <a:ext cx="2971800" cy="457200"/>
          </a:xfrm>
          <a:prstGeom prst="rect">
            <a:avLst/>
          </a:prstGeom>
          <a:noFill/>
        </p:spPr>
        <p:txBody>
          <a:bodyPr wrap="square" lIns="0" tIns="0" rIns="0" bIns="0" anchor="t">
            <a:spAutoFit/>
          </a:bodyPr>
          <a:lstStyle/>
          <a:p>
            <a:pPr algn="l"/>
            <a:r>
              <a:rPr sz="2000" b="1" i="0">
                <a:solidFill>
                  <a:srgbClr val="1A1A1A"/>
                </a:solidFill>
                <a:latin typeface="Calibri"/>
              </a:rPr>
              <a:t>SMS-first</a:t>
            </a:r>
          </a:p>
        </p:txBody>
      </p:sp>
      <p:sp>
        <p:nvSpPr>
          <p:cNvPr id="11" name="TextBox 10"/>
          <p:cNvSpPr txBox="1"/>
          <p:nvPr/>
        </p:nvSpPr>
        <p:spPr>
          <a:xfrm>
            <a:off x="4709160" y="4434840"/>
            <a:ext cx="2971800" cy="1371600"/>
          </a:xfrm>
          <a:prstGeom prst="rect">
            <a:avLst/>
          </a:prstGeom>
          <a:noFill/>
        </p:spPr>
        <p:txBody>
          <a:bodyPr wrap="square" lIns="0" tIns="0" rIns="0" bIns="0" anchor="t">
            <a:spAutoFit/>
          </a:bodyPr>
          <a:lstStyle/>
          <a:p>
            <a:pPr algn="l"/>
            <a:r>
              <a:rPr sz="1300" b="0" i="0">
                <a:solidFill>
                  <a:srgbClr val="2C2C2C"/>
                </a:solidFill>
                <a:latin typeface="Calibri"/>
              </a:rPr>
              <a:t>Volunteers interact entirely by text. Admins use a web panel plus an SMS command channel for day-of operations.</a:t>
            </a:r>
          </a:p>
        </p:txBody>
      </p:sp>
      <p:sp>
        <p:nvSpPr>
          <p:cNvPr id="12" name="Rounded Rectangle 11"/>
          <p:cNvSpPr/>
          <p:nvPr/>
        </p:nvSpPr>
        <p:spPr>
          <a:xfrm>
            <a:off x="8183880" y="3657600"/>
            <a:ext cx="3520440" cy="2286000"/>
          </a:xfrm>
          <a:prstGeom prst="roundRect">
            <a:avLst/>
          </a:prstGeom>
          <a:solidFill>
            <a:srgbClr val="EDE3F2"/>
          </a:solidFill>
          <a:ln w="9525">
            <a:solidFill>
              <a:srgbClr val="947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58200" y="3840480"/>
            <a:ext cx="2971800" cy="457200"/>
          </a:xfrm>
          <a:prstGeom prst="rect">
            <a:avLst/>
          </a:prstGeom>
          <a:noFill/>
        </p:spPr>
        <p:txBody>
          <a:bodyPr wrap="square" lIns="0" tIns="0" rIns="0" bIns="0" anchor="t">
            <a:spAutoFit/>
          </a:bodyPr>
          <a:lstStyle/>
          <a:p>
            <a:pPr algn="l"/>
            <a:r>
              <a:rPr sz="2000" b="1" i="0">
                <a:solidFill>
                  <a:srgbClr val="1A1A1A"/>
                </a:solidFill>
                <a:latin typeface="Calibri"/>
              </a:rPr>
              <a:t>AI as a tool</a:t>
            </a:r>
          </a:p>
        </p:txBody>
      </p:sp>
      <p:sp>
        <p:nvSpPr>
          <p:cNvPr id="14" name="TextBox 13"/>
          <p:cNvSpPr txBox="1"/>
          <p:nvPr/>
        </p:nvSpPr>
        <p:spPr>
          <a:xfrm>
            <a:off x="8458200" y="4434840"/>
            <a:ext cx="2971800" cy="1371600"/>
          </a:xfrm>
          <a:prstGeom prst="rect">
            <a:avLst/>
          </a:prstGeom>
          <a:noFill/>
        </p:spPr>
        <p:txBody>
          <a:bodyPr wrap="square" lIns="0" tIns="0" rIns="0" bIns="0" anchor="t">
            <a:spAutoFit/>
          </a:bodyPr>
          <a:lstStyle/>
          <a:p>
            <a:pPr algn="l"/>
            <a:r>
              <a:rPr sz="1300" b="0" i="0">
                <a:solidFill>
                  <a:srgbClr val="2C2C2C"/>
                </a:solidFill>
                <a:latin typeface="Calibri"/>
              </a:rPr>
              <a:t>AI is used where it adds value. The dominant operations run on deterministic code that costs nothing per message.</a:t>
            </a:r>
          </a:p>
        </p:txBody>
      </p:sp>
      <p:sp>
        <p:nvSpPr>
          <p:cNvPr id="15" name="TextBox 14"/>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6" name="TextBox 15"/>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2 / 13</a:t>
            </a:r>
          </a:p>
        </p:txBody>
      </p:sp>
      <p:sp>
        <p:nvSpPr>
          <p:cNvPr id="18" name="TextBox 17">
            <a:extLst>
              <a:ext uri="{FF2B5EF4-FFF2-40B4-BE49-F238E27FC236}">
                <a16:creationId xmlns:a16="http://schemas.microsoft.com/office/drawing/2014/main" id="{10930CE1-F88D-DB80-178D-075DCDFF8149}"/>
              </a:ext>
            </a:extLst>
          </p:cNvPr>
          <p:cNvSpPr txBox="1"/>
          <p:nvPr/>
        </p:nvSpPr>
        <p:spPr>
          <a:xfrm>
            <a:off x="7793567" y="1095494"/>
            <a:ext cx="3758048" cy="369332"/>
          </a:xfrm>
          <a:prstGeom prst="rect">
            <a:avLst/>
          </a:prstGeom>
          <a:noFill/>
        </p:spPr>
        <p:txBody>
          <a:bodyPr wrap="square">
            <a:spAutoFit/>
          </a:bodyPr>
          <a:lstStyle/>
          <a:p>
            <a:pPr algn="l">
              <a:spcBef>
                <a:spcPts val="2400"/>
              </a:spcBef>
              <a:buNone/>
            </a:pPr>
            <a:r>
              <a:rPr lang="en-US" b="1" i="0" dirty="0">
                <a:effectLst/>
                <a:latin typeface="Inter Variable"/>
              </a:rPr>
              <a:t>Your outreach team, </a:t>
            </a:r>
            <a:r>
              <a:rPr lang="en-US" b="1" i="1" dirty="0">
                <a:solidFill>
                  <a:srgbClr val="1C2D4A"/>
                </a:solidFill>
                <a:effectLst/>
                <a:latin typeface="Inter Variable"/>
              </a:rPr>
              <a:t>on autopilot.</a:t>
            </a:r>
            <a:endParaRPr lang="en-US" b="1" i="0" dirty="0">
              <a:effectLst/>
              <a:latin typeface="Inter Variab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WHAT WE OPTIMIZED FOR</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Three guiding principles</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2286000"/>
            <a:ext cx="777240" cy="777240"/>
          </a:xfrm>
          <a:prstGeom prst="roundRect">
            <a:avLst>
              <a:gd name="adj" fmla="val 50000"/>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286000"/>
            <a:ext cx="777240" cy="777240"/>
          </a:xfrm>
          <a:prstGeom prst="rect">
            <a:avLst/>
          </a:prstGeom>
          <a:noFill/>
        </p:spPr>
        <p:txBody>
          <a:bodyPr wrap="square" lIns="0" tIns="0" rIns="0" bIns="0" anchor="ctr">
            <a:spAutoFit/>
          </a:bodyPr>
          <a:lstStyle/>
          <a:p>
            <a:pPr algn="ctr"/>
            <a:r>
              <a:rPr sz="2800" b="1" i="0">
                <a:solidFill>
                  <a:srgbClr val="FFFFFF"/>
                </a:solidFill>
                <a:latin typeface="Calibri"/>
              </a:rPr>
              <a:t>1</a:t>
            </a:r>
          </a:p>
        </p:txBody>
      </p:sp>
      <p:sp>
        <p:nvSpPr>
          <p:cNvPr id="7" name="TextBox 6"/>
          <p:cNvSpPr txBox="1"/>
          <p:nvPr/>
        </p:nvSpPr>
        <p:spPr>
          <a:xfrm>
            <a:off x="1691640" y="2240280"/>
            <a:ext cx="10058400" cy="457200"/>
          </a:xfrm>
          <a:prstGeom prst="rect">
            <a:avLst/>
          </a:prstGeom>
          <a:noFill/>
        </p:spPr>
        <p:txBody>
          <a:bodyPr wrap="square" lIns="0" tIns="0" rIns="0" bIns="0" anchor="t">
            <a:spAutoFit/>
          </a:bodyPr>
          <a:lstStyle/>
          <a:p>
            <a:pPr algn="l"/>
            <a:r>
              <a:rPr sz="2000" b="1" i="0">
                <a:solidFill>
                  <a:srgbClr val="1A1A1A"/>
                </a:solidFill>
                <a:latin typeface="Calibri"/>
              </a:rPr>
              <a:t>Strict tenant isolation</a:t>
            </a:r>
          </a:p>
        </p:txBody>
      </p:sp>
      <p:sp>
        <p:nvSpPr>
          <p:cNvPr id="8" name="TextBox 7"/>
          <p:cNvSpPr txBox="1"/>
          <p:nvPr/>
        </p:nvSpPr>
        <p:spPr>
          <a:xfrm>
            <a:off x="1691640" y="2651760"/>
            <a:ext cx="10058400" cy="822960"/>
          </a:xfrm>
          <a:prstGeom prst="rect">
            <a:avLst/>
          </a:prstGeom>
          <a:noFill/>
        </p:spPr>
        <p:txBody>
          <a:bodyPr wrap="square" lIns="0" tIns="0" rIns="0" bIns="0" anchor="t">
            <a:spAutoFit/>
          </a:bodyPr>
          <a:lstStyle/>
          <a:p>
            <a:pPr algn="l"/>
            <a:r>
              <a:rPr sz="1400" b="0" i="0">
                <a:solidFill>
                  <a:srgbClr val="2C2C2C"/>
                </a:solidFill>
                <a:latin typeface="Calibri"/>
              </a:rPr>
              <a:t>No tenant ever sees another tenant's data. Tenant scoping is applied at the data layer, not bolted onto controllers.</a:t>
            </a:r>
          </a:p>
        </p:txBody>
      </p:sp>
      <p:sp>
        <p:nvSpPr>
          <p:cNvPr id="9" name="Rounded Rectangle 8"/>
          <p:cNvSpPr/>
          <p:nvPr/>
        </p:nvSpPr>
        <p:spPr>
          <a:xfrm>
            <a:off x="640080" y="3474720"/>
            <a:ext cx="777240" cy="777240"/>
          </a:xfrm>
          <a:prstGeom prst="roundRect">
            <a:avLst>
              <a:gd name="adj" fmla="val 50000"/>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474720"/>
            <a:ext cx="777240" cy="777240"/>
          </a:xfrm>
          <a:prstGeom prst="rect">
            <a:avLst/>
          </a:prstGeom>
          <a:noFill/>
        </p:spPr>
        <p:txBody>
          <a:bodyPr wrap="square" lIns="0" tIns="0" rIns="0" bIns="0" anchor="ctr">
            <a:spAutoFit/>
          </a:bodyPr>
          <a:lstStyle/>
          <a:p>
            <a:pPr algn="ctr"/>
            <a:r>
              <a:rPr sz="2800" b="1" i="0">
                <a:solidFill>
                  <a:srgbClr val="FFFFFF"/>
                </a:solidFill>
                <a:latin typeface="Calibri"/>
              </a:rPr>
              <a:t>2</a:t>
            </a:r>
          </a:p>
        </p:txBody>
      </p:sp>
      <p:sp>
        <p:nvSpPr>
          <p:cNvPr id="11" name="TextBox 10"/>
          <p:cNvSpPr txBox="1"/>
          <p:nvPr/>
        </p:nvSpPr>
        <p:spPr>
          <a:xfrm>
            <a:off x="1691640" y="3429000"/>
            <a:ext cx="10058400" cy="457200"/>
          </a:xfrm>
          <a:prstGeom prst="rect">
            <a:avLst/>
          </a:prstGeom>
          <a:noFill/>
        </p:spPr>
        <p:txBody>
          <a:bodyPr wrap="square" lIns="0" tIns="0" rIns="0" bIns="0" anchor="t">
            <a:spAutoFit/>
          </a:bodyPr>
          <a:lstStyle/>
          <a:p>
            <a:pPr algn="l"/>
            <a:r>
              <a:rPr sz="2000" b="1" i="0">
                <a:solidFill>
                  <a:srgbClr val="1A1A1A"/>
                </a:solidFill>
                <a:latin typeface="Calibri"/>
              </a:rPr>
              <a:t>Cheapest path handles the dominant case</a:t>
            </a:r>
          </a:p>
        </p:txBody>
      </p:sp>
      <p:sp>
        <p:nvSpPr>
          <p:cNvPr id="12" name="TextBox 11"/>
          <p:cNvSpPr txBox="1"/>
          <p:nvPr/>
        </p:nvSpPr>
        <p:spPr>
          <a:xfrm>
            <a:off x="1691640" y="3840480"/>
            <a:ext cx="10058400" cy="822960"/>
          </a:xfrm>
          <a:prstGeom prst="rect">
            <a:avLst/>
          </a:prstGeom>
          <a:noFill/>
        </p:spPr>
        <p:txBody>
          <a:bodyPr wrap="square" lIns="0" tIns="0" rIns="0" bIns="0" anchor="t">
            <a:spAutoFit/>
          </a:bodyPr>
          <a:lstStyle/>
          <a:p>
            <a:pPr algn="l"/>
            <a:r>
              <a:rPr sz="1400" b="0" i="0">
                <a:solidFill>
                  <a:srgbClr val="2C2C2C"/>
                </a:solidFill>
                <a:latin typeface="Calibri"/>
              </a:rPr>
              <a:t>The fastest, most reliable, lowest-cost code path serves the majority of traffic. AI is reserved for moments where it adds real value.</a:t>
            </a:r>
          </a:p>
        </p:txBody>
      </p:sp>
      <p:sp>
        <p:nvSpPr>
          <p:cNvPr id="13" name="Rounded Rectangle 12"/>
          <p:cNvSpPr/>
          <p:nvPr/>
        </p:nvSpPr>
        <p:spPr>
          <a:xfrm>
            <a:off x="640080" y="4663440"/>
            <a:ext cx="777240" cy="777240"/>
          </a:xfrm>
          <a:prstGeom prst="roundRect">
            <a:avLst>
              <a:gd name="adj" fmla="val 50000"/>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663440"/>
            <a:ext cx="777240" cy="777240"/>
          </a:xfrm>
          <a:prstGeom prst="rect">
            <a:avLst/>
          </a:prstGeom>
          <a:noFill/>
        </p:spPr>
        <p:txBody>
          <a:bodyPr wrap="square" lIns="0" tIns="0" rIns="0" bIns="0" anchor="ctr">
            <a:spAutoFit/>
          </a:bodyPr>
          <a:lstStyle/>
          <a:p>
            <a:pPr algn="ctr"/>
            <a:r>
              <a:rPr sz="2800" b="1" i="0">
                <a:solidFill>
                  <a:srgbClr val="FFFFFF"/>
                </a:solidFill>
                <a:latin typeface="Calibri"/>
              </a:rPr>
              <a:t>3</a:t>
            </a:r>
          </a:p>
        </p:txBody>
      </p:sp>
      <p:sp>
        <p:nvSpPr>
          <p:cNvPr id="15" name="TextBox 14"/>
          <p:cNvSpPr txBox="1"/>
          <p:nvPr/>
        </p:nvSpPr>
        <p:spPr>
          <a:xfrm>
            <a:off x="1691640" y="4617720"/>
            <a:ext cx="10058400" cy="457200"/>
          </a:xfrm>
          <a:prstGeom prst="rect">
            <a:avLst/>
          </a:prstGeom>
          <a:noFill/>
        </p:spPr>
        <p:txBody>
          <a:bodyPr wrap="square" lIns="0" tIns="0" rIns="0" bIns="0" anchor="t">
            <a:spAutoFit/>
          </a:bodyPr>
          <a:lstStyle/>
          <a:p>
            <a:pPr algn="l"/>
            <a:r>
              <a:rPr sz="2000" b="1" i="0">
                <a:solidFill>
                  <a:srgbClr val="1A1A1A"/>
                </a:solidFill>
                <a:latin typeface="Calibri"/>
              </a:rPr>
              <a:t>Auditable by default</a:t>
            </a:r>
          </a:p>
        </p:txBody>
      </p:sp>
      <p:sp>
        <p:nvSpPr>
          <p:cNvPr id="16" name="TextBox 15"/>
          <p:cNvSpPr txBox="1"/>
          <p:nvPr/>
        </p:nvSpPr>
        <p:spPr>
          <a:xfrm>
            <a:off x="1691640" y="5029200"/>
            <a:ext cx="10058400" cy="822960"/>
          </a:xfrm>
          <a:prstGeom prst="rect">
            <a:avLst/>
          </a:prstGeom>
          <a:noFill/>
        </p:spPr>
        <p:txBody>
          <a:bodyPr wrap="square" lIns="0" tIns="0" rIns="0" bIns="0" anchor="t">
            <a:spAutoFit/>
          </a:bodyPr>
          <a:lstStyle/>
          <a:p>
            <a:pPr algn="l"/>
            <a:r>
              <a:rPr sz="1400" b="0" i="0">
                <a:solidFill>
                  <a:srgbClr val="2C2C2C"/>
                </a:solidFill>
                <a:latin typeface="Calibri"/>
              </a:rPr>
              <a:t>Every routing decision and AI invocation is logged. We can explain after the fact what the system did and why.</a:t>
            </a:r>
          </a:p>
        </p:txBody>
      </p:sp>
      <p:sp>
        <p:nvSpPr>
          <p:cNvPr id="17" name="TextBox 16"/>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8" name="TextBox 17"/>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3 / 13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THE BIG PICTURE</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System architecture, end to end</a:t>
            </a:r>
          </a:p>
        </p:txBody>
      </p:sp>
      <p:pic>
        <p:nvPicPr>
          <p:cNvPr id="5" name="Picture 4" descr="architecture_diagram.png"/>
          <p:cNvPicPr>
            <a:picLocks noChangeAspect="1"/>
          </p:cNvPicPr>
          <p:nvPr/>
        </p:nvPicPr>
        <p:blipFill>
          <a:blip r:embed="rId2"/>
          <a:stretch>
            <a:fillRect/>
          </a:stretch>
        </p:blipFill>
        <p:spPr>
          <a:xfrm>
            <a:off x="2779246" y="1113271"/>
            <a:ext cx="6079528" cy="4446482"/>
          </a:xfrm>
          <a:prstGeom prst="rect">
            <a:avLst/>
          </a:prstGeom>
        </p:spPr>
      </p:pic>
      <p:sp>
        <p:nvSpPr>
          <p:cNvPr id="6" name="TextBox 5"/>
          <p:cNvSpPr txBox="1"/>
          <p:nvPr/>
        </p:nvSpPr>
        <p:spPr>
          <a:xfrm>
            <a:off x="640080" y="5852160"/>
            <a:ext cx="10911535" cy="457200"/>
          </a:xfrm>
          <a:prstGeom prst="rect">
            <a:avLst/>
          </a:prstGeom>
          <a:noFill/>
        </p:spPr>
        <p:txBody>
          <a:bodyPr wrap="square" lIns="0" tIns="0" rIns="0" bIns="0" anchor="t">
            <a:spAutoFit/>
          </a:bodyPr>
          <a:lstStyle/>
          <a:p>
            <a:pPr algn="ctr"/>
            <a:r>
              <a:rPr sz="1100" b="0" i="1">
                <a:solidFill>
                  <a:srgbClr val="555555"/>
                </a:solidFill>
                <a:latin typeface="Calibri"/>
              </a:rPr>
              <a:t>Five layers — channels, application core, agents, the hybrid intent stack, data + integrations. Solid arrows = primary request flow; dashed = background work.</a:t>
            </a:r>
          </a:p>
        </p:txBody>
      </p:sp>
      <p:sp>
        <p:nvSpPr>
          <p:cNvPr id="7" name="TextBox 6"/>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8" name="TextBox 7"/>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4 / 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READING THE DIAGRAM</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The five layers, in one sentence each</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2560320" cy="640080"/>
          </a:xfrm>
          <a:prstGeom prst="roundRect">
            <a:avLst/>
          </a:prstGeom>
          <a:solidFill>
            <a:srgbClr val="E8EEF7"/>
          </a:solidFill>
          <a:ln w="9525">
            <a:solidFill>
              <a:srgbClr val="5B7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828800"/>
            <a:ext cx="2560320" cy="640080"/>
          </a:xfrm>
          <a:prstGeom prst="rect">
            <a:avLst/>
          </a:prstGeom>
          <a:noFill/>
        </p:spPr>
        <p:txBody>
          <a:bodyPr wrap="square" lIns="0" tIns="0" rIns="0" bIns="0" anchor="ctr">
            <a:spAutoFit/>
          </a:bodyPr>
          <a:lstStyle/>
          <a:p>
            <a:pPr algn="ctr"/>
            <a:r>
              <a:rPr sz="1100" b="1" i="0">
                <a:solidFill>
                  <a:srgbClr val="1A1A1A"/>
                </a:solidFill>
                <a:latin typeface="Calibri"/>
              </a:rPr>
              <a:t>EXTERNAL CHANNELS</a:t>
            </a:r>
          </a:p>
        </p:txBody>
      </p:sp>
      <p:sp>
        <p:nvSpPr>
          <p:cNvPr id="7" name="TextBox 6"/>
          <p:cNvSpPr txBox="1"/>
          <p:nvPr/>
        </p:nvSpPr>
        <p:spPr>
          <a:xfrm>
            <a:off x="3474720" y="1920240"/>
            <a:ext cx="8229600" cy="548640"/>
          </a:xfrm>
          <a:prstGeom prst="rect">
            <a:avLst/>
          </a:prstGeom>
          <a:noFill/>
        </p:spPr>
        <p:txBody>
          <a:bodyPr wrap="square" lIns="0" tIns="0" rIns="0" bIns="0" anchor="ctr">
            <a:spAutoFit/>
          </a:bodyPr>
          <a:lstStyle/>
          <a:p>
            <a:pPr algn="l"/>
            <a:r>
              <a:rPr sz="1400" b="0" i="0">
                <a:solidFill>
                  <a:srgbClr val="2C2C2C"/>
                </a:solidFill>
                <a:latin typeface="Calibri"/>
              </a:rPr>
              <a:t>Volunteers via SMS, admins via web + SMS, super-admins via web.</a:t>
            </a:r>
          </a:p>
        </p:txBody>
      </p:sp>
      <p:sp>
        <p:nvSpPr>
          <p:cNvPr id="8" name="Rounded Rectangle 7"/>
          <p:cNvSpPr/>
          <p:nvPr/>
        </p:nvSpPr>
        <p:spPr>
          <a:xfrm>
            <a:off x="640080" y="2697480"/>
            <a:ext cx="2560320" cy="640080"/>
          </a:xfrm>
          <a:prstGeom prst="roundRect">
            <a:avLst/>
          </a:prstGeom>
          <a:solidFill>
            <a:srgbClr val="F1ECE4"/>
          </a:solidFill>
          <a:ln w="9525">
            <a:solidFill>
              <a:srgbClr val="9C8F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697480"/>
            <a:ext cx="2560320" cy="640080"/>
          </a:xfrm>
          <a:prstGeom prst="rect">
            <a:avLst/>
          </a:prstGeom>
          <a:noFill/>
        </p:spPr>
        <p:txBody>
          <a:bodyPr wrap="square" lIns="0" tIns="0" rIns="0" bIns="0" anchor="ctr">
            <a:spAutoFit/>
          </a:bodyPr>
          <a:lstStyle/>
          <a:p>
            <a:pPr algn="ctr"/>
            <a:r>
              <a:rPr sz="1100" b="1" i="0">
                <a:solidFill>
                  <a:srgbClr val="1A1A1A"/>
                </a:solidFill>
                <a:latin typeface="Calibri"/>
              </a:rPr>
              <a:t>APPLICATION CORE</a:t>
            </a:r>
          </a:p>
        </p:txBody>
      </p:sp>
      <p:sp>
        <p:nvSpPr>
          <p:cNvPr id="10" name="TextBox 9"/>
          <p:cNvSpPr txBox="1"/>
          <p:nvPr/>
        </p:nvSpPr>
        <p:spPr>
          <a:xfrm>
            <a:off x="3474720" y="2788920"/>
            <a:ext cx="8229600" cy="548640"/>
          </a:xfrm>
          <a:prstGeom prst="rect">
            <a:avLst/>
          </a:prstGeom>
          <a:noFill/>
        </p:spPr>
        <p:txBody>
          <a:bodyPr wrap="square" lIns="0" tIns="0" rIns="0" bIns="0" anchor="ctr">
            <a:spAutoFit/>
          </a:bodyPr>
          <a:lstStyle/>
          <a:p>
            <a:pPr algn="l"/>
            <a:r>
              <a:rPr sz="1400" b="0" i="0">
                <a:solidFill>
                  <a:srgbClr val="2C2C2C"/>
                </a:solidFill>
                <a:latin typeface="Calibri"/>
              </a:rPr>
              <a:t>Web API, inbound webhook, scheduler, and observability — the FastAPI services that own the request loop.</a:t>
            </a:r>
          </a:p>
        </p:txBody>
      </p:sp>
      <p:sp>
        <p:nvSpPr>
          <p:cNvPr id="11" name="Rounded Rectangle 10"/>
          <p:cNvSpPr/>
          <p:nvPr/>
        </p:nvSpPr>
        <p:spPr>
          <a:xfrm>
            <a:off x="640080" y="3566160"/>
            <a:ext cx="2560320" cy="640080"/>
          </a:xfrm>
          <a:prstGeom prst="roundRect">
            <a:avLst/>
          </a:prstGeom>
          <a:solidFill>
            <a:srgbClr val="E4EDE3"/>
          </a:solidFill>
          <a:ln w="9525">
            <a:solidFill>
              <a:srgbClr val="7BA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66160"/>
            <a:ext cx="2560320" cy="640080"/>
          </a:xfrm>
          <a:prstGeom prst="rect">
            <a:avLst/>
          </a:prstGeom>
          <a:noFill/>
        </p:spPr>
        <p:txBody>
          <a:bodyPr wrap="square" lIns="0" tIns="0" rIns="0" bIns="0" anchor="ctr">
            <a:spAutoFit/>
          </a:bodyPr>
          <a:lstStyle/>
          <a:p>
            <a:pPr algn="ctr"/>
            <a:r>
              <a:rPr sz="1100" b="1" i="0">
                <a:solidFill>
                  <a:srgbClr val="1A1A1A"/>
                </a:solidFill>
                <a:latin typeface="Calibri"/>
              </a:rPr>
              <a:t>AGENT LAYER</a:t>
            </a:r>
          </a:p>
        </p:txBody>
      </p:sp>
      <p:sp>
        <p:nvSpPr>
          <p:cNvPr id="13" name="TextBox 12"/>
          <p:cNvSpPr txBox="1"/>
          <p:nvPr/>
        </p:nvSpPr>
        <p:spPr>
          <a:xfrm>
            <a:off x="3474720" y="3657600"/>
            <a:ext cx="8229600" cy="548640"/>
          </a:xfrm>
          <a:prstGeom prst="rect">
            <a:avLst/>
          </a:prstGeom>
          <a:noFill/>
        </p:spPr>
        <p:txBody>
          <a:bodyPr wrap="square" lIns="0" tIns="0" rIns="0" bIns="0" anchor="ctr">
            <a:spAutoFit/>
          </a:bodyPr>
          <a:lstStyle/>
          <a:p>
            <a:pPr algn="l"/>
            <a:r>
              <a:rPr sz="1400" b="0" i="0">
                <a:solidFill>
                  <a:srgbClr val="2C2C2C"/>
                </a:solidFill>
                <a:latin typeface="Calibri"/>
              </a:rPr>
              <a:t>The Orchestrator routes to specialized agents: Engagement, Recruiter + Scheduler, Marketing, Review + Recognition.</a:t>
            </a:r>
          </a:p>
        </p:txBody>
      </p:sp>
      <p:sp>
        <p:nvSpPr>
          <p:cNvPr id="14" name="Rounded Rectangle 13"/>
          <p:cNvSpPr/>
          <p:nvPr/>
        </p:nvSpPr>
        <p:spPr>
          <a:xfrm>
            <a:off x="640080" y="4434840"/>
            <a:ext cx="2560320" cy="640080"/>
          </a:xfrm>
          <a:prstGeom prst="roundRect">
            <a:avLst/>
          </a:prstGeom>
          <a:solidFill>
            <a:srgbClr val="EDE3F2"/>
          </a:solidFill>
          <a:ln w="9525">
            <a:solidFill>
              <a:srgbClr val="947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434840"/>
            <a:ext cx="2560320" cy="640080"/>
          </a:xfrm>
          <a:prstGeom prst="rect">
            <a:avLst/>
          </a:prstGeom>
          <a:noFill/>
        </p:spPr>
        <p:txBody>
          <a:bodyPr wrap="square" lIns="0" tIns="0" rIns="0" bIns="0" anchor="ctr">
            <a:spAutoFit/>
          </a:bodyPr>
          <a:lstStyle/>
          <a:p>
            <a:pPr algn="ctr"/>
            <a:r>
              <a:rPr sz="1100" b="1" i="0">
                <a:solidFill>
                  <a:srgbClr val="1A1A1A"/>
                </a:solidFill>
                <a:latin typeface="Calibri"/>
              </a:rPr>
              <a:t>HYBRID INTENT STACK</a:t>
            </a:r>
          </a:p>
        </p:txBody>
      </p:sp>
      <p:sp>
        <p:nvSpPr>
          <p:cNvPr id="16" name="TextBox 15"/>
          <p:cNvSpPr txBox="1"/>
          <p:nvPr/>
        </p:nvSpPr>
        <p:spPr>
          <a:xfrm>
            <a:off x="3474720" y="4526280"/>
            <a:ext cx="8229600" cy="548640"/>
          </a:xfrm>
          <a:prstGeom prst="rect">
            <a:avLst/>
          </a:prstGeom>
          <a:noFill/>
        </p:spPr>
        <p:txBody>
          <a:bodyPr wrap="square" lIns="0" tIns="0" rIns="0" bIns="0" anchor="ctr">
            <a:spAutoFit/>
          </a:bodyPr>
          <a:lstStyle/>
          <a:p>
            <a:pPr algn="l"/>
            <a:r>
              <a:rPr sz="1400" b="0" i="0">
                <a:solidFill>
                  <a:srgbClr val="2C2C2C"/>
                </a:solidFill>
                <a:latin typeface="Calibri"/>
              </a:rPr>
              <a:t>Pattern rules → small AI classifier → full AI. Cross-cuts every inbound message.</a:t>
            </a:r>
          </a:p>
        </p:txBody>
      </p:sp>
      <p:sp>
        <p:nvSpPr>
          <p:cNvPr id="17" name="Rounded Rectangle 16"/>
          <p:cNvSpPr/>
          <p:nvPr/>
        </p:nvSpPr>
        <p:spPr>
          <a:xfrm>
            <a:off x="640080" y="5303520"/>
            <a:ext cx="2560320" cy="64008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303520"/>
            <a:ext cx="2560320" cy="640080"/>
          </a:xfrm>
          <a:prstGeom prst="rect">
            <a:avLst/>
          </a:prstGeom>
          <a:noFill/>
        </p:spPr>
        <p:txBody>
          <a:bodyPr wrap="square" lIns="0" tIns="0" rIns="0" bIns="0" anchor="ctr">
            <a:spAutoFit/>
          </a:bodyPr>
          <a:lstStyle/>
          <a:p>
            <a:pPr algn="ctr"/>
            <a:r>
              <a:rPr sz="1100" b="1" i="0">
                <a:solidFill>
                  <a:srgbClr val="1A1A1A"/>
                </a:solidFill>
                <a:latin typeface="Calibri"/>
              </a:rPr>
              <a:t>DATA &amp; INTEGRATIONS</a:t>
            </a:r>
          </a:p>
        </p:txBody>
      </p:sp>
      <p:sp>
        <p:nvSpPr>
          <p:cNvPr id="19" name="TextBox 18"/>
          <p:cNvSpPr txBox="1"/>
          <p:nvPr/>
        </p:nvSpPr>
        <p:spPr>
          <a:xfrm>
            <a:off x="3474720" y="5394960"/>
            <a:ext cx="8229600" cy="548640"/>
          </a:xfrm>
          <a:prstGeom prst="rect">
            <a:avLst/>
          </a:prstGeom>
          <a:noFill/>
        </p:spPr>
        <p:txBody>
          <a:bodyPr wrap="square" lIns="0" tIns="0" rIns="0" bIns="0" anchor="ctr">
            <a:spAutoFit/>
          </a:bodyPr>
          <a:lstStyle/>
          <a:p>
            <a:pPr algn="l"/>
            <a:r>
              <a:rPr sz="1400" b="0" i="0">
                <a:solidFill>
                  <a:srgbClr val="2C2C2C"/>
                </a:solidFill>
                <a:latin typeface="Calibri"/>
              </a:rPr>
              <a:t>PostgreSQL with row-level tenant isolation; Twilio, Anthropic, Google, Resend wrapped behind soft-fail boundaries.</a:t>
            </a:r>
          </a:p>
        </p:txBody>
      </p:sp>
      <p:sp>
        <p:nvSpPr>
          <p:cNvPr id="20" name="TextBox 19"/>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21" name="TextBox 20"/>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5 / 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PATTERN 1</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Multi-tenant row-level isolation</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920239"/>
            <a:ext cx="109728" cy="1188720"/>
          </a:xfrm>
          <a:prstGeom prst="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10515600" cy="320040"/>
          </a:xfrm>
          <a:prstGeom prst="rect">
            <a:avLst/>
          </a:prstGeom>
          <a:noFill/>
        </p:spPr>
        <p:txBody>
          <a:bodyPr wrap="square" lIns="0" tIns="0" rIns="0" bIns="0" anchor="t">
            <a:spAutoFit/>
          </a:bodyPr>
          <a:lstStyle/>
          <a:p>
            <a:pPr algn="l"/>
            <a:r>
              <a:rPr sz="1000" b="1" i="0">
                <a:solidFill>
                  <a:srgbClr val="5B7AB8"/>
                </a:solidFill>
                <a:latin typeface="Calibri"/>
              </a:rPr>
              <a:t>WHAT IT IS</a:t>
            </a:r>
          </a:p>
        </p:txBody>
      </p:sp>
      <p:sp>
        <p:nvSpPr>
          <p:cNvPr id="7" name="TextBox 6"/>
          <p:cNvSpPr txBox="1"/>
          <p:nvPr/>
        </p:nvSpPr>
        <p:spPr>
          <a:xfrm>
            <a:off x="960120" y="2194559"/>
            <a:ext cx="10515600" cy="960120"/>
          </a:xfrm>
          <a:prstGeom prst="rect">
            <a:avLst/>
          </a:prstGeom>
          <a:noFill/>
        </p:spPr>
        <p:txBody>
          <a:bodyPr wrap="square" lIns="0" tIns="0" rIns="0" bIns="0" anchor="t">
            <a:spAutoFit/>
          </a:bodyPr>
          <a:lstStyle/>
          <a:p>
            <a:pPr algn="l"/>
            <a:r>
              <a:rPr sz="1400" b="0" i="0">
                <a:solidFill>
                  <a:srgbClr val="2C2C2C"/>
                </a:solidFill>
                <a:latin typeface="Calibri"/>
              </a:rPr>
              <a:t>Every record carries the tenant it belongs to. Every database query automatically scopes to that tenant. No shared data, no shared credentials, no shared prompts.</a:t>
            </a:r>
          </a:p>
        </p:txBody>
      </p:sp>
      <p:sp>
        <p:nvSpPr>
          <p:cNvPr id="8" name="Rectangle 7"/>
          <p:cNvSpPr/>
          <p:nvPr/>
        </p:nvSpPr>
        <p:spPr>
          <a:xfrm>
            <a:off x="640080" y="3337559"/>
            <a:ext cx="109728" cy="1188720"/>
          </a:xfrm>
          <a:prstGeom prst="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291839"/>
            <a:ext cx="10515600" cy="320040"/>
          </a:xfrm>
          <a:prstGeom prst="rect">
            <a:avLst/>
          </a:prstGeom>
          <a:noFill/>
        </p:spPr>
        <p:txBody>
          <a:bodyPr wrap="square" lIns="0" tIns="0" rIns="0" bIns="0" anchor="t">
            <a:spAutoFit/>
          </a:bodyPr>
          <a:lstStyle/>
          <a:p>
            <a:pPr algn="l"/>
            <a:r>
              <a:rPr sz="1000" b="1" i="0">
                <a:solidFill>
                  <a:srgbClr val="5B7AB8"/>
                </a:solidFill>
                <a:latin typeface="Calibri"/>
              </a:rPr>
              <a:t>WHY WE CHOSE IT</a:t>
            </a:r>
          </a:p>
        </p:txBody>
      </p:sp>
      <p:sp>
        <p:nvSpPr>
          <p:cNvPr id="10" name="TextBox 9"/>
          <p:cNvSpPr txBox="1"/>
          <p:nvPr/>
        </p:nvSpPr>
        <p:spPr>
          <a:xfrm>
            <a:off x="960120" y="3611879"/>
            <a:ext cx="10515600" cy="960120"/>
          </a:xfrm>
          <a:prstGeom prst="rect">
            <a:avLst/>
          </a:prstGeom>
          <a:noFill/>
        </p:spPr>
        <p:txBody>
          <a:bodyPr wrap="square" lIns="0" tIns="0" rIns="0" bIns="0" anchor="t">
            <a:spAutoFit/>
          </a:bodyPr>
          <a:lstStyle/>
          <a:p>
            <a:pPr algn="l"/>
            <a:r>
              <a:rPr sz="1400" b="0" i="0">
                <a:solidFill>
                  <a:srgbClr val="2C2C2C"/>
                </a:solidFill>
                <a:latin typeface="Calibri"/>
              </a:rPr>
              <a:t>The strongest tenant boundary at the lowest operating cost. Faster onboarding, schema changes deploy once, cloud bill stays flat as tenants grow. Tenant scoping is enforced at the base-query layer so no developer can accidentally leak.</a:t>
            </a:r>
          </a:p>
        </p:txBody>
      </p:sp>
      <p:sp>
        <p:nvSpPr>
          <p:cNvPr id="11" name="Rectangle 10"/>
          <p:cNvSpPr/>
          <p:nvPr/>
        </p:nvSpPr>
        <p:spPr>
          <a:xfrm>
            <a:off x="640080" y="4754879"/>
            <a:ext cx="109728" cy="1188720"/>
          </a:xfrm>
          <a:prstGeom prst="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709159"/>
            <a:ext cx="10515600" cy="320040"/>
          </a:xfrm>
          <a:prstGeom prst="rect">
            <a:avLst/>
          </a:prstGeom>
          <a:noFill/>
        </p:spPr>
        <p:txBody>
          <a:bodyPr wrap="square" lIns="0" tIns="0" rIns="0" bIns="0" anchor="t">
            <a:spAutoFit/>
          </a:bodyPr>
          <a:lstStyle/>
          <a:p>
            <a:pPr algn="l"/>
            <a:r>
              <a:rPr sz="1000" b="1" i="0">
                <a:solidFill>
                  <a:srgbClr val="5B7AB8"/>
                </a:solidFill>
                <a:latin typeface="Calibri"/>
              </a:rPr>
              <a:t>BUSINESS BENEFIT</a:t>
            </a:r>
          </a:p>
        </p:txBody>
      </p:sp>
      <p:sp>
        <p:nvSpPr>
          <p:cNvPr id="13" name="TextBox 12"/>
          <p:cNvSpPr txBox="1"/>
          <p:nvPr/>
        </p:nvSpPr>
        <p:spPr>
          <a:xfrm>
            <a:off x="960120" y="5029199"/>
            <a:ext cx="10515600" cy="960120"/>
          </a:xfrm>
          <a:prstGeom prst="rect">
            <a:avLst/>
          </a:prstGeom>
          <a:noFill/>
        </p:spPr>
        <p:txBody>
          <a:bodyPr wrap="square" lIns="0" tIns="0" rIns="0" bIns="0" anchor="t">
            <a:spAutoFit/>
          </a:bodyPr>
          <a:lstStyle/>
          <a:p>
            <a:pPr algn="l"/>
            <a:r>
              <a:rPr sz="1400" b="0" i="0">
                <a:solidFill>
                  <a:srgbClr val="2C2C2C"/>
                </a:solidFill>
                <a:latin typeface="Calibri"/>
              </a:rPr>
              <a:t>Minutes-to-onboard new tenants. Per-tenant credentials, prompts, and feature flags. Marginal cost per tenant dominated by usage, not infrastructure.</a:t>
            </a:r>
          </a:p>
        </p:txBody>
      </p:sp>
      <p:sp>
        <p:nvSpPr>
          <p:cNvPr id="14" name="TextBox 13"/>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5" name="TextBox 14"/>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6 /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PATTERN 2</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Path-A agent architecture</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920239"/>
            <a:ext cx="109728" cy="1188720"/>
          </a:xfrm>
          <a:prstGeom prst="rect">
            <a:avLst/>
          </a:prstGeom>
          <a:solidFill>
            <a:srgbClr val="7BA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874519"/>
            <a:ext cx="10515600" cy="320040"/>
          </a:xfrm>
          <a:prstGeom prst="rect">
            <a:avLst/>
          </a:prstGeom>
          <a:noFill/>
        </p:spPr>
        <p:txBody>
          <a:bodyPr wrap="square" lIns="0" tIns="0" rIns="0" bIns="0" anchor="t">
            <a:spAutoFit/>
          </a:bodyPr>
          <a:lstStyle/>
          <a:p>
            <a:pPr algn="l"/>
            <a:r>
              <a:rPr sz="1000" b="1" i="0">
                <a:solidFill>
                  <a:srgbClr val="7BA070"/>
                </a:solidFill>
                <a:latin typeface="Calibri"/>
              </a:rPr>
              <a:t>WHAT IT IS</a:t>
            </a:r>
          </a:p>
        </p:txBody>
      </p:sp>
      <p:sp>
        <p:nvSpPr>
          <p:cNvPr id="7" name="TextBox 6"/>
          <p:cNvSpPr txBox="1"/>
          <p:nvPr/>
        </p:nvSpPr>
        <p:spPr>
          <a:xfrm>
            <a:off x="960120" y="2194559"/>
            <a:ext cx="10515600" cy="960120"/>
          </a:xfrm>
          <a:prstGeom prst="rect">
            <a:avLst/>
          </a:prstGeom>
          <a:noFill/>
        </p:spPr>
        <p:txBody>
          <a:bodyPr wrap="square" lIns="0" tIns="0" rIns="0" bIns="0" anchor="t">
            <a:spAutoFit/>
          </a:bodyPr>
          <a:lstStyle/>
          <a:p>
            <a:pPr algn="l"/>
            <a:r>
              <a:rPr sz="1400" b="0" i="0">
                <a:solidFill>
                  <a:srgbClr val="2C2C2C"/>
                </a:solidFill>
                <a:latin typeface="Calibri"/>
              </a:rPr>
              <a:t>The AI-driven parts of the system are organized into four specialized agents — Orchestrator, Engagement, Recruiter + Scheduler, Marketing — each following the same internal shape.</a:t>
            </a:r>
          </a:p>
        </p:txBody>
      </p:sp>
      <p:sp>
        <p:nvSpPr>
          <p:cNvPr id="8" name="Rectangle 7"/>
          <p:cNvSpPr/>
          <p:nvPr/>
        </p:nvSpPr>
        <p:spPr>
          <a:xfrm>
            <a:off x="640080" y="3337559"/>
            <a:ext cx="109728" cy="1188720"/>
          </a:xfrm>
          <a:prstGeom prst="rect">
            <a:avLst/>
          </a:prstGeom>
          <a:solidFill>
            <a:srgbClr val="7BA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291839"/>
            <a:ext cx="10515600" cy="320040"/>
          </a:xfrm>
          <a:prstGeom prst="rect">
            <a:avLst/>
          </a:prstGeom>
          <a:noFill/>
        </p:spPr>
        <p:txBody>
          <a:bodyPr wrap="square" lIns="0" tIns="0" rIns="0" bIns="0" anchor="t">
            <a:spAutoFit/>
          </a:bodyPr>
          <a:lstStyle/>
          <a:p>
            <a:pPr algn="l"/>
            <a:r>
              <a:rPr sz="1000" b="1" i="0">
                <a:solidFill>
                  <a:srgbClr val="7BA070"/>
                </a:solidFill>
                <a:latin typeface="Calibri"/>
              </a:rPr>
              <a:t>WHY WE CHOSE IT</a:t>
            </a:r>
          </a:p>
        </p:txBody>
      </p:sp>
      <p:sp>
        <p:nvSpPr>
          <p:cNvPr id="10" name="TextBox 9"/>
          <p:cNvSpPr txBox="1"/>
          <p:nvPr/>
        </p:nvSpPr>
        <p:spPr>
          <a:xfrm>
            <a:off x="960120" y="3611879"/>
            <a:ext cx="10515600" cy="960120"/>
          </a:xfrm>
          <a:prstGeom prst="rect">
            <a:avLst/>
          </a:prstGeom>
          <a:noFill/>
        </p:spPr>
        <p:txBody>
          <a:bodyPr wrap="square" lIns="0" tIns="0" rIns="0" bIns="0" anchor="t">
            <a:spAutoFit/>
          </a:bodyPr>
          <a:lstStyle/>
          <a:p>
            <a:pPr algn="l"/>
            <a:r>
              <a:rPr sz="1400" b="0" i="0">
                <a:solidFill>
                  <a:srgbClr val="2C2C2C"/>
                </a:solidFill>
                <a:latin typeface="Calibri"/>
              </a:rPr>
              <a:t>Without this structure, AI features sprawl into a single overgrown handler that is hard to test, debug, or modify. The agent shape separates deciding what to do from doing it from explaining what was done. New agents drop into the same slot.</a:t>
            </a:r>
          </a:p>
        </p:txBody>
      </p:sp>
      <p:sp>
        <p:nvSpPr>
          <p:cNvPr id="11" name="Rectangle 10"/>
          <p:cNvSpPr/>
          <p:nvPr/>
        </p:nvSpPr>
        <p:spPr>
          <a:xfrm>
            <a:off x="640080" y="4754879"/>
            <a:ext cx="109728" cy="1188720"/>
          </a:xfrm>
          <a:prstGeom prst="rect">
            <a:avLst/>
          </a:prstGeom>
          <a:solidFill>
            <a:srgbClr val="7BA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709159"/>
            <a:ext cx="10515600" cy="320040"/>
          </a:xfrm>
          <a:prstGeom prst="rect">
            <a:avLst/>
          </a:prstGeom>
          <a:noFill/>
        </p:spPr>
        <p:txBody>
          <a:bodyPr wrap="square" lIns="0" tIns="0" rIns="0" bIns="0" anchor="t">
            <a:spAutoFit/>
          </a:bodyPr>
          <a:lstStyle/>
          <a:p>
            <a:pPr algn="l"/>
            <a:r>
              <a:rPr sz="1000" b="1" i="0">
                <a:solidFill>
                  <a:srgbClr val="7BA070"/>
                </a:solidFill>
                <a:latin typeface="Calibri"/>
              </a:rPr>
              <a:t>BUSINESS BENEFIT</a:t>
            </a:r>
          </a:p>
        </p:txBody>
      </p:sp>
      <p:sp>
        <p:nvSpPr>
          <p:cNvPr id="13" name="TextBox 12"/>
          <p:cNvSpPr txBox="1"/>
          <p:nvPr/>
        </p:nvSpPr>
        <p:spPr>
          <a:xfrm>
            <a:off x="960120" y="5029199"/>
            <a:ext cx="10515600" cy="960120"/>
          </a:xfrm>
          <a:prstGeom prst="rect">
            <a:avLst/>
          </a:prstGeom>
          <a:noFill/>
        </p:spPr>
        <p:txBody>
          <a:bodyPr wrap="square" lIns="0" tIns="0" rIns="0" bIns="0" anchor="t">
            <a:spAutoFit/>
          </a:bodyPr>
          <a:lstStyle/>
          <a:p>
            <a:pPr algn="l"/>
            <a:r>
              <a:rPr sz="1400" b="0" i="0">
                <a:solidFill>
                  <a:srgbClr val="2C2C2C"/>
                </a:solidFill>
                <a:latin typeface="Calibri"/>
              </a:rPr>
              <a:t>Faster feature delivery, lower regression risk, easier engineer onboarding. The agent boundary is also where we attribute AI cost and observability.</a:t>
            </a:r>
          </a:p>
        </p:txBody>
      </p:sp>
      <p:sp>
        <p:nvSpPr>
          <p:cNvPr id="14" name="TextBox 13"/>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5" name="TextBox 14"/>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7 / 13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THE DIFFERENTIATOR</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Hybrid intent stack</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0911535" cy="548640"/>
          </a:xfrm>
          <a:prstGeom prst="rect">
            <a:avLst/>
          </a:prstGeom>
          <a:noFill/>
        </p:spPr>
        <p:txBody>
          <a:bodyPr wrap="square" lIns="0" tIns="0" rIns="0" bIns="0" anchor="t">
            <a:spAutoFit/>
          </a:bodyPr>
          <a:lstStyle/>
          <a:p>
            <a:pPr algn="l"/>
            <a:r>
              <a:rPr sz="1400" b="0" i="1">
                <a:solidFill>
                  <a:srgbClr val="2C2C2C"/>
                </a:solidFill>
                <a:latin typeface="Calibri"/>
              </a:rPr>
              <a:t>Every inbound message passes through up to three tiers. Each tier only fires when the previous one cannot answer confidently.</a:t>
            </a:r>
          </a:p>
        </p:txBody>
      </p:sp>
      <p:sp>
        <p:nvSpPr>
          <p:cNvPr id="6" name="Rounded Rectangle 5"/>
          <p:cNvSpPr/>
          <p:nvPr/>
        </p:nvSpPr>
        <p:spPr>
          <a:xfrm>
            <a:off x="640080" y="2560320"/>
            <a:ext cx="10911535" cy="960120"/>
          </a:xfrm>
          <a:prstGeom prst="roundRect">
            <a:avLst/>
          </a:prstGeom>
          <a:solidFill>
            <a:srgbClr val="E4EDE3"/>
          </a:solidFill>
          <a:ln w="9525">
            <a:solidFill>
              <a:srgbClr val="7BA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1188720" cy="365760"/>
          </a:xfrm>
          <a:prstGeom prst="rect">
            <a:avLst/>
          </a:prstGeom>
          <a:noFill/>
        </p:spPr>
        <p:txBody>
          <a:bodyPr wrap="square" lIns="0" tIns="0" rIns="0" bIns="0" anchor="t">
            <a:spAutoFit/>
          </a:bodyPr>
          <a:lstStyle/>
          <a:p>
            <a:pPr algn="l"/>
            <a:r>
              <a:rPr sz="1000" b="1" i="0">
                <a:solidFill>
                  <a:srgbClr val="7BA070"/>
                </a:solidFill>
                <a:latin typeface="Calibri"/>
              </a:rPr>
              <a:t>TIER 1</a:t>
            </a:r>
          </a:p>
        </p:txBody>
      </p:sp>
      <p:sp>
        <p:nvSpPr>
          <p:cNvPr id="8" name="TextBox 7"/>
          <p:cNvSpPr txBox="1"/>
          <p:nvPr/>
        </p:nvSpPr>
        <p:spPr>
          <a:xfrm>
            <a:off x="914400" y="2926080"/>
            <a:ext cx="4114800" cy="548640"/>
          </a:xfrm>
          <a:prstGeom prst="rect">
            <a:avLst/>
          </a:prstGeom>
          <a:noFill/>
        </p:spPr>
        <p:txBody>
          <a:bodyPr wrap="square" lIns="0" tIns="0" rIns="0" bIns="0" anchor="t">
            <a:spAutoFit/>
          </a:bodyPr>
          <a:lstStyle/>
          <a:p>
            <a:pPr algn="l"/>
            <a:r>
              <a:rPr sz="1700" b="1" i="0">
                <a:solidFill>
                  <a:srgbClr val="1A1A1A"/>
                </a:solidFill>
                <a:latin typeface="Calibri"/>
              </a:rPr>
              <a:t>Pattern rules</a:t>
            </a:r>
          </a:p>
        </p:txBody>
      </p:sp>
      <p:sp>
        <p:nvSpPr>
          <p:cNvPr id="9" name="TextBox 8"/>
          <p:cNvSpPr txBox="1"/>
          <p:nvPr/>
        </p:nvSpPr>
        <p:spPr>
          <a:xfrm>
            <a:off x="5212080" y="2724912"/>
            <a:ext cx="4114800" cy="640080"/>
          </a:xfrm>
          <a:prstGeom prst="rect">
            <a:avLst/>
          </a:prstGeom>
          <a:noFill/>
        </p:spPr>
        <p:txBody>
          <a:bodyPr wrap="square" lIns="0" tIns="0" rIns="0" bIns="0" anchor="ctr">
            <a:spAutoFit/>
          </a:bodyPr>
          <a:lstStyle/>
          <a:p>
            <a:pPr algn="l"/>
            <a:r>
              <a:rPr sz="1200" b="0" i="1">
                <a:solidFill>
                  <a:srgbClr val="2C2C2C"/>
                </a:solidFill>
                <a:latin typeface="Calibri"/>
              </a:rPr>
              <a:t>Canonical phrases — HERE, DONE, switch to kitchen.</a:t>
            </a:r>
          </a:p>
        </p:txBody>
      </p:sp>
      <p:sp>
        <p:nvSpPr>
          <p:cNvPr id="10" name="TextBox 9"/>
          <p:cNvSpPr txBox="1"/>
          <p:nvPr/>
        </p:nvSpPr>
        <p:spPr>
          <a:xfrm>
            <a:off x="9418320" y="2606040"/>
            <a:ext cx="2103120" cy="274320"/>
          </a:xfrm>
          <a:prstGeom prst="rect">
            <a:avLst/>
          </a:prstGeom>
          <a:noFill/>
        </p:spPr>
        <p:txBody>
          <a:bodyPr wrap="square" lIns="0" tIns="0" rIns="0" bIns="0" anchor="t">
            <a:spAutoFit/>
          </a:bodyPr>
          <a:lstStyle/>
          <a:p>
            <a:pPr algn="l"/>
            <a:r>
              <a:rPr sz="1100" b="1" i="0">
                <a:solidFill>
                  <a:srgbClr val="1A1A1A"/>
                </a:solidFill>
                <a:latin typeface="Calibri"/>
              </a:rPr>
              <a:t>⏱  ~5 ms   💲 $0</a:t>
            </a:r>
          </a:p>
        </p:txBody>
      </p:sp>
      <p:sp>
        <p:nvSpPr>
          <p:cNvPr id="11" name="TextBox 10"/>
          <p:cNvSpPr txBox="1"/>
          <p:nvPr/>
        </p:nvSpPr>
        <p:spPr>
          <a:xfrm>
            <a:off x="9418320" y="2971800"/>
            <a:ext cx="2103120" cy="457200"/>
          </a:xfrm>
          <a:prstGeom prst="rect">
            <a:avLst/>
          </a:prstGeom>
          <a:noFill/>
        </p:spPr>
        <p:txBody>
          <a:bodyPr wrap="square" lIns="0" tIns="0" rIns="0" bIns="0" anchor="t">
            <a:spAutoFit/>
          </a:bodyPr>
          <a:lstStyle/>
          <a:p>
            <a:pPr algn="l"/>
            <a:r>
              <a:rPr sz="1050" b="0" i="1">
                <a:solidFill>
                  <a:srgbClr val="555555"/>
                </a:solidFill>
                <a:latin typeface="Calibri"/>
              </a:rPr>
              <a:t>~80–90% of messages</a:t>
            </a:r>
          </a:p>
        </p:txBody>
      </p:sp>
      <p:sp>
        <p:nvSpPr>
          <p:cNvPr id="12" name="Rounded Rectangle 11"/>
          <p:cNvSpPr/>
          <p:nvPr/>
        </p:nvSpPr>
        <p:spPr>
          <a:xfrm>
            <a:off x="640080" y="3657600"/>
            <a:ext cx="10911535" cy="960120"/>
          </a:xfrm>
          <a:prstGeom prst="roundRect">
            <a:avLst/>
          </a:prstGeom>
          <a:solidFill>
            <a:srgbClr val="EDE3F2"/>
          </a:solidFill>
          <a:ln w="9525">
            <a:solidFill>
              <a:srgbClr val="947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749040"/>
            <a:ext cx="1188720" cy="365760"/>
          </a:xfrm>
          <a:prstGeom prst="rect">
            <a:avLst/>
          </a:prstGeom>
          <a:noFill/>
        </p:spPr>
        <p:txBody>
          <a:bodyPr wrap="square" lIns="0" tIns="0" rIns="0" bIns="0" anchor="t">
            <a:spAutoFit/>
          </a:bodyPr>
          <a:lstStyle/>
          <a:p>
            <a:pPr algn="l"/>
            <a:r>
              <a:rPr sz="1000" b="1" i="0">
                <a:solidFill>
                  <a:srgbClr val="9474A6"/>
                </a:solidFill>
                <a:latin typeface="Calibri"/>
              </a:rPr>
              <a:t>TIER 2</a:t>
            </a:r>
          </a:p>
        </p:txBody>
      </p:sp>
      <p:sp>
        <p:nvSpPr>
          <p:cNvPr id="14" name="TextBox 13"/>
          <p:cNvSpPr txBox="1"/>
          <p:nvPr/>
        </p:nvSpPr>
        <p:spPr>
          <a:xfrm>
            <a:off x="914400" y="4023360"/>
            <a:ext cx="4114800" cy="548640"/>
          </a:xfrm>
          <a:prstGeom prst="rect">
            <a:avLst/>
          </a:prstGeom>
          <a:noFill/>
        </p:spPr>
        <p:txBody>
          <a:bodyPr wrap="square" lIns="0" tIns="0" rIns="0" bIns="0" anchor="t">
            <a:spAutoFit/>
          </a:bodyPr>
          <a:lstStyle/>
          <a:p>
            <a:pPr algn="l"/>
            <a:r>
              <a:rPr sz="1700" b="1" i="0">
                <a:solidFill>
                  <a:srgbClr val="1A1A1A"/>
                </a:solidFill>
                <a:latin typeface="Calibri"/>
              </a:rPr>
              <a:t>Small AI classifier (Haiku)</a:t>
            </a:r>
          </a:p>
        </p:txBody>
      </p:sp>
      <p:sp>
        <p:nvSpPr>
          <p:cNvPr id="15" name="TextBox 14"/>
          <p:cNvSpPr txBox="1"/>
          <p:nvPr/>
        </p:nvSpPr>
        <p:spPr>
          <a:xfrm>
            <a:off x="5212080" y="3822192"/>
            <a:ext cx="4114800" cy="640080"/>
          </a:xfrm>
          <a:prstGeom prst="rect">
            <a:avLst/>
          </a:prstGeom>
          <a:noFill/>
        </p:spPr>
        <p:txBody>
          <a:bodyPr wrap="square" lIns="0" tIns="0" rIns="0" bIns="0" anchor="ctr">
            <a:spAutoFit/>
          </a:bodyPr>
          <a:lstStyle/>
          <a:p>
            <a:pPr algn="l"/>
            <a:r>
              <a:rPr sz="1200" b="0" i="1">
                <a:solidFill>
                  <a:srgbClr val="2C2C2C"/>
                </a:solidFill>
                <a:latin typeface="Calibri"/>
              </a:rPr>
              <a:t>Long-tail phrasings — "im finally here lol", "leaving now".</a:t>
            </a:r>
          </a:p>
        </p:txBody>
      </p:sp>
      <p:sp>
        <p:nvSpPr>
          <p:cNvPr id="16" name="TextBox 15"/>
          <p:cNvSpPr txBox="1"/>
          <p:nvPr/>
        </p:nvSpPr>
        <p:spPr>
          <a:xfrm>
            <a:off x="9418320" y="3703320"/>
            <a:ext cx="2103120" cy="274320"/>
          </a:xfrm>
          <a:prstGeom prst="rect">
            <a:avLst/>
          </a:prstGeom>
          <a:noFill/>
        </p:spPr>
        <p:txBody>
          <a:bodyPr wrap="square" lIns="0" tIns="0" rIns="0" bIns="0" anchor="t">
            <a:spAutoFit/>
          </a:bodyPr>
          <a:lstStyle/>
          <a:p>
            <a:pPr algn="l"/>
            <a:r>
              <a:rPr sz="1100" b="1" i="0">
                <a:solidFill>
                  <a:srgbClr val="1A1A1A"/>
                </a:solidFill>
                <a:latin typeface="Calibri"/>
              </a:rPr>
              <a:t>⏱  ~300 ms   💲 ~$0.0001</a:t>
            </a:r>
          </a:p>
        </p:txBody>
      </p:sp>
      <p:sp>
        <p:nvSpPr>
          <p:cNvPr id="17" name="TextBox 16"/>
          <p:cNvSpPr txBox="1"/>
          <p:nvPr/>
        </p:nvSpPr>
        <p:spPr>
          <a:xfrm>
            <a:off x="9418320" y="4069080"/>
            <a:ext cx="2103120" cy="457200"/>
          </a:xfrm>
          <a:prstGeom prst="rect">
            <a:avLst/>
          </a:prstGeom>
          <a:noFill/>
        </p:spPr>
        <p:txBody>
          <a:bodyPr wrap="square" lIns="0" tIns="0" rIns="0" bIns="0" anchor="t">
            <a:spAutoFit/>
          </a:bodyPr>
          <a:lstStyle/>
          <a:p>
            <a:pPr algn="l"/>
            <a:r>
              <a:rPr sz="1050" b="0" i="1">
                <a:solidFill>
                  <a:srgbClr val="555555"/>
                </a:solidFill>
                <a:latin typeface="Calibri"/>
              </a:rPr>
              <a:t>~5–10% of messages</a:t>
            </a:r>
          </a:p>
        </p:txBody>
      </p:sp>
      <p:sp>
        <p:nvSpPr>
          <p:cNvPr id="18" name="Rounded Rectangle 17"/>
          <p:cNvSpPr/>
          <p:nvPr/>
        </p:nvSpPr>
        <p:spPr>
          <a:xfrm>
            <a:off x="640080" y="4754880"/>
            <a:ext cx="10911535" cy="960120"/>
          </a:xfrm>
          <a:prstGeom prst="roundRect">
            <a:avLst/>
          </a:prstGeom>
          <a:solidFill>
            <a:srgbClr val="E8EEF7"/>
          </a:solidFill>
          <a:ln w="9525">
            <a:solidFill>
              <a:srgbClr val="5B7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846320"/>
            <a:ext cx="1188720" cy="365760"/>
          </a:xfrm>
          <a:prstGeom prst="rect">
            <a:avLst/>
          </a:prstGeom>
          <a:noFill/>
        </p:spPr>
        <p:txBody>
          <a:bodyPr wrap="square" lIns="0" tIns="0" rIns="0" bIns="0" anchor="t">
            <a:spAutoFit/>
          </a:bodyPr>
          <a:lstStyle/>
          <a:p>
            <a:pPr algn="l"/>
            <a:r>
              <a:rPr sz="1000" b="1" i="0">
                <a:solidFill>
                  <a:srgbClr val="5B7AB8"/>
                </a:solidFill>
                <a:latin typeface="Calibri"/>
              </a:rPr>
              <a:t>TIER 3</a:t>
            </a:r>
          </a:p>
        </p:txBody>
      </p:sp>
      <p:sp>
        <p:nvSpPr>
          <p:cNvPr id="20" name="TextBox 19"/>
          <p:cNvSpPr txBox="1"/>
          <p:nvPr/>
        </p:nvSpPr>
        <p:spPr>
          <a:xfrm>
            <a:off x="914400" y="5120640"/>
            <a:ext cx="4114800" cy="548640"/>
          </a:xfrm>
          <a:prstGeom prst="rect">
            <a:avLst/>
          </a:prstGeom>
          <a:noFill/>
        </p:spPr>
        <p:txBody>
          <a:bodyPr wrap="square" lIns="0" tIns="0" rIns="0" bIns="0" anchor="t">
            <a:spAutoFit/>
          </a:bodyPr>
          <a:lstStyle/>
          <a:p>
            <a:pPr algn="l"/>
            <a:r>
              <a:rPr sz="1700" b="1" i="0">
                <a:solidFill>
                  <a:srgbClr val="1A1A1A"/>
                </a:solidFill>
                <a:latin typeface="Calibri"/>
              </a:rPr>
              <a:t>Full AI with tools</a:t>
            </a:r>
          </a:p>
        </p:txBody>
      </p:sp>
      <p:sp>
        <p:nvSpPr>
          <p:cNvPr id="21" name="TextBox 20"/>
          <p:cNvSpPr txBox="1"/>
          <p:nvPr/>
        </p:nvSpPr>
        <p:spPr>
          <a:xfrm>
            <a:off x="5212080" y="4919472"/>
            <a:ext cx="4114800" cy="640080"/>
          </a:xfrm>
          <a:prstGeom prst="rect">
            <a:avLst/>
          </a:prstGeom>
          <a:noFill/>
        </p:spPr>
        <p:txBody>
          <a:bodyPr wrap="square" lIns="0" tIns="0" rIns="0" bIns="0" anchor="ctr">
            <a:spAutoFit/>
          </a:bodyPr>
          <a:lstStyle/>
          <a:p>
            <a:pPr algn="l"/>
            <a:r>
              <a:rPr sz="1200" b="0" i="1">
                <a:solidFill>
                  <a:srgbClr val="2C2C2C"/>
                </a:solidFill>
                <a:latin typeface="Calibri"/>
              </a:rPr>
              <a:t>Open questions and multi-turn conversations.</a:t>
            </a:r>
          </a:p>
        </p:txBody>
      </p:sp>
      <p:sp>
        <p:nvSpPr>
          <p:cNvPr id="22" name="TextBox 21"/>
          <p:cNvSpPr txBox="1"/>
          <p:nvPr/>
        </p:nvSpPr>
        <p:spPr>
          <a:xfrm>
            <a:off x="9418320" y="4800600"/>
            <a:ext cx="2103120" cy="274320"/>
          </a:xfrm>
          <a:prstGeom prst="rect">
            <a:avLst/>
          </a:prstGeom>
          <a:noFill/>
        </p:spPr>
        <p:txBody>
          <a:bodyPr wrap="square" lIns="0" tIns="0" rIns="0" bIns="0" anchor="t">
            <a:spAutoFit/>
          </a:bodyPr>
          <a:lstStyle/>
          <a:p>
            <a:pPr algn="l"/>
            <a:r>
              <a:rPr sz="1100" b="1" i="0">
                <a:solidFill>
                  <a:srgbClr val="1A1A1A"/>
                </a:solidFill>
                <a:latin typeface="Calibri"/>
              </a:rPr>
              <a:t>⏱  ~1–2 sec   💲 ~$0.005–0.015</a:t>
            </a:r>
          </a:p>
        </p:txBody>
      </p:sp>
      <p:sp>
        <p:nvSpPr>
          <p:cNvPr id="23" name="TextBox 22"/>
          <p:cNvSpPr txBox="1"/>
          <p:nvPr/>
        </p:nvSpPr>
        <p:spPr>
          <a:xfrm>
            <a:off x="9418320" y="5166360"/>
            <a:ext cx="2103120" cy="457200"/>
          </a:xfrm>
          <a:prstGeom prst="rect">
            <a:avLst/>
          </a:prstGeom>
          <a:noFill/>
        </p:spPr>
        <p:txBody>
          <a:bodyPr wrap="square" lIns="0" tIns="0" rIns="0" bIns="0" anchor="t">
            <a:spAutoFit/>
          </a:bodyPr>
          <a:lstStyle/>
          <a:p>
            <a:pPr algn="l"/>
            <a:r>
              <a:rPr sz="1050" b="0" i="1">
                <a:solidFill>
                  <a:srgbClr val="555555"/>
                </a:solidFill>
                <a:latin typeface="Calibri"/>
              </a:rPr>
              <a:t>Long tail</a:t>
            </a:r>
          </a:p>
        </p:txBody>
      </p:sp>
      <p:sp>
        <p:nvSpPr>
          <p:cNvPr id="24" name="TextBox 23"/>
          <p:cNvSpPr txBox="1"/>
          <p:nvPr/>
        </p:nvSpPr>
        <p:spPr>
          <a:xfrm>
            <a:off x="640080" y="5897880"/>
            <a:ext cx="10911535" cy="457200"/>
          </a:xfrm>
          <a:prstGeom prst="rect">
            <a:avLst/>
          </a:prstGeom>
          <a:noFill/>
        </p:spPr>
        <p:txBody>
          <a:bodyPr wrap="square" lIns="0" tIns="0" rIns="0" bIns="0" anchor="t">
            <a:spAutoFit/>
          </a:bodyPr>
          <a:lstStyle/>
          <a:p>
            <a:pPr algn="ctr"/>
            <a:r>
              <a:rPr sz="1200" b="1" i="0">
                <a:solidFill>
                  <a:srgbClr val="1A1A1A"/>
                </a:solidFill>
                <a:latin typeface="Calibri"/>
              </a:rPr>
              <a:t>Average AI cost is dominated by Tier 1 (free). Check-in and check-out are 100% deterministic.</a:t>
            </a:r>
          </a:p>
        </p:txBody>
      </p:sp>
      <p:sp>
        <p:nvSpPr>
          <p:cNvPr id="25" name="TextBox 24"/>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26" name="TextBox 25"/>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8 / 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OPERATIONAL RELIABILITY</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Patterns for trust and uptime</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920240"/>
            <a:ext cx="2522143" cy="411480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94560"/>
            <a:ext cx="2064943" cy="822960"/>
          </a:xfrm>
          <a:prstGeom prst="rect">
            <a:avLst/>
          </a:prstGeom>
          <a:noFill/>
        </p:spPr>
        <p:txBody>
          <a:bodyPr wrap="square" lIns="0" tIns="0" rIns="0" bIns="0" anchor="t">
            <a:spAutoFit/>
          </a:bodyPr>
          <a:lstStyle/>
          <a:p>
            <a:pPr algn="l"/>
            <a:r>
              <a:rPr sz="1500" b="1" i="0">
                <a:solidFill>
                  <a:srgbClr val="1A1A1A"/>
                </a:solidFill>
                <a:latin typeface="Calibri"/>
              </a:rPr>
              <a:t>Webhook buffer</a:t>
            </a:r>
          </a:p>
        </p:txBody>
      </p:sp>
      <p:sp>
        <p:nvSpPr>
          <p:cNvPr id="7" name="TextBox 6"/>
          <p:cNvSpPr txBox="1"/>
          <p:nvPr/>
        </p:nvSpPr>
        <p:spPr>
          <a:xfrm>
            <a:off x="868680" y="3108960"/>
            <a:ext cx="2064943" cy="2651760"/>
          </a:xfrm>
          <a:prstGeom prst="rect">
            <a:avLst/>
          </a:prstGeom>
          <a:noFill/>
        </p:spPr>
        <p:txBody>
          <a:bodyPr wrap="square" lIns="0" tIns="0" rIns="0" bIns="0" anchor="t">
            <a:spAutoFit/>
          </a:bodyPr>
          <a:lstStyle/>
          <a:p>
            <a:pPr algn="l"/>
            <a:r>
              <a:rPr sz="1200" b="0" i="0">
                <a:solidFill>
                  <a:srgbClr val="2C2C2C"/>
                </a:solidFill>
                <a:latin typeface="Calibri"/>
              </a:rPr>
              <a:t>Acknowledge inbound SMS in ~30 ms; process in the background. Carrier-side timeouts no longer become duplicate check-ins or lost messages.</a:t>
            </a:r>
          </a:p>
        </p:txBody>
      </p:sp>
      <p:sp>
        <p:nvSpPr>
          <p:cNvPr id="8" name="Rounded Rectangle 7"/>
          <p:cNvSpPr/>
          <p:nvPr/>
        </p:nvSpPr>
        <p:spPr>
          <a:xfrm>
            <a:off x="3436543" y="1920240"/>
            <a:ext cx="2522143" cy="411480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65143" y="2194560"/>
            <a:ext cx="2064943" cy="822960"/>
          </a:xfrm>
          <a:prstGeom prst="rect">
            <a:avLst/>
          </a:prstGeom>
          <a:noFill/>
        </p:spPr>
        <p:txBody>
          <a:bodyPr wrap="square" lIns="0" tIns="0" rIns="0" bIns="0" anchor="t">
            <a:spAutoFit/>
          </a:bodyPr>
          <a:lstStyle/>
          <a:p>
            <a:pPr algn="l"/>
            <a:r>
              <a:rPr sz="1500" b="1" i="0">
                <a:solidFill>
                  <a:srgbClr val="1A1A1A"/>
                </a:solidFill>
                <a:latin typeface="Calibri"/>
              </a:rPr>
              <a:t>Graceful degradation</a:t>
            </a:r>
          </a:p>
        </p:txBody>
      </p:sp>
      <p:sp>
        <p:nvSpPr>
          <p:cNvPr id="10" name="TextBox 9"/>
          <p:cNvSpPr txBox="1"/>
          <p:nvPr/>
        </p:nvSpPr>
        <p:spPr>
          <a:xfrm>
            <a:off x="3665143" y="3108960"/>
            <a:ext cx="2064943" cy="2651760"/>
          </a:xfrm>
          <a:prstGeom prst="rect">
            <a:avLst/>
          </a:prstGeom>
          <a:noFill/>
        </p:spPr>
        <p:txBody>
          <a:bodyPr wrap="square" lIns="0" tIns="0" rIns="0" bIns="0" anchor="t">
            <a:spAutoFit/>
          </a:bodyPr>
          <a:lstStyle/>
          <a:p>
            <a:pPr algn="l"/>
            <a:r>
              <a:rPr sz="1200" b="0" i="0">
                <a:solidFill>
                  <a:srgbClr val="2C2C2C"/>
                </a:solidFill>
                <a:latin typeface="Calibri"/>
              </a:rPr>
              <a:t>Every external dependency — Twilio, Anthropic, Google, Resend — wrapped in a soft-fail boundary. A vendor outage degrades one capability, not the whole product.</a:t>
            </a:r>
          </a:p>
        </p:txBody>
      </p:sp>
      <p:sp>
        <p:nvSpPr>
          <p:cNvPr id="11" name="Rounded Rectangle 10"/>
          <p:cNvSpPr/>
          <p:nvPr/>
        </p:nvSpPr>
        <p:spPr>
          <a:xfrm>
            <a:off x="6233007" y="1920240"/>
            <a:ext cx="2522143" cy="411480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1607" y="2194560"/>
            <a:ext cx="2064943" cy="822960"/>
          </a:xfrm>
          <a:prstGeom prst="rect">
            <a:avLst/>
          </a:prstGeom>
          <a:noFill/>
        </p:spPr>
        <p:txBody>
          <a:bodyPr wrap="square" lIns="0" tIns="0" rIns="0" bIns="0" anchor="t">
            <a:spAutoFit/>
          </a:bodyPr>
          <a:lstStyle/>
          <a:p>
            <a:pPr algn="l"/>
            <a:r>
              <a:rPr sz="1500" b="1" i="0">
                <a:solidFill>
                  <a:srgbClr val="1A1A1A"/>
                </a:solidFill>
                <a:latin typeface="Calibri"/>
              </a:rPr>
              <a:t>Optimistic concurrency</a:t>
            </a:r>
          </a:p>
        </p:txBody>
      </p:sp>
      <p:sp>
        <p:nvSpPr>
          <p:cNvPr id="13" name="TextBox 12"/>
          <p:cNvSpPr txBox="1"/>
          <p:nvPr/>
        </p:nvSpPr>
        <p:spPr>
          <a:xfrm>
            <a:off x="6461607" y="3108960"/>
            <a:ext cx="2064943" cy="2651760"/>
          </a:xfrm>
          <a:prstGeom prst="rect">
            <a:avLst/>
          </a:prstGeom>
          <a:noFill/>
        </p:spPr>
        <p:txBody>
          <a:bodyPr wrap="square" lIns="0" tIns="0" rIns="0" bIns="0" anchor="t">
            <a:spAutoFit/>
          </a:bodyPr>
          <a:lstStyle/>
          <a:p>
            <a:pPr algn="l"/>
            <a:r>
              <a:rPr sz="1200" b="0" i="0">
                <a:solidFill>
                  <a:srgbClr val="2C2C2C"/>
                </a:solidFill>
                <a:latin typeface="Calibri"/>
              </a:rPr>
              <a:t>Hot rows like pending service-change approvals use version numbers. Admins and volunteers can act in parallel; collisions resolve with a clean retry.</a:t>
            </a:r>
          </a:p>
        </p:txBody>
      </p:sp>
      <p:sp>
        <p:nvSpPr>
          <p:cNvPr id="14" name="Rounded Rectangle 13"/>
          <p:cNvSpPr/>
          <p:nvPr/>
        </p:nvSpPr>
        <p:spPr>
          <a:xfrm>
            <a:off x="9029471" y="1920240"/>
            <a:ext cx="2522143" cy="411480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58071" y="2194560"/>
            <a:ext cx="2064943" cy="822960"/>
          </a:xfrm>
          <a:prstGeom prst="rect">
            <a:avLst/>
          </a:prstGeom>
          <a:noFill/>
        </p:spPr>
        <p:txBody>
          <a:bodyPr wrap="square" lIns="0" tIns="0" rIns="0" bIns="0" anchor="t">
            <a:spAutoFit/>
          </a:bodyPr>
          <a:lstStyle/>
          <a:p>
            <a:pPr algn="l"/>
            <a:r>
              <a:rPr sz="1500" b="1" i="0">
                <a:solidFill>
                  <a:srgbClr val="1A1A1A"/>
                </a:solidFill>
                <a:latin typeface="Calibri"/>
              </a:rPr>
              <a:t>Graph-shaped audit</a:t>
            </a:r>
          </a:p>
        </p:txBody>
      </p:sp>
      <p:sp>
        <p:nvSpPr>
          <p:cNvPr id="16" name="TextBox 15"/>
          <p:cNvSpPr txBox="1"/>
          <p:nvPr/>
        </p:nvSpPr>
        <p:spPr>
          <a:xfrm>
            <a:off x="9258071" y="3108960"/>
            <a:ext cx="2064943" cy="2651760"/>
          </a:xfrm>
          <a:prstGeom prst="rect">
            <a:avLst/>
          </a:prstGeom>
          <a:noFill/>
        </p:spPr>
        <p:txBody>
          <a:bodyPr wrap="square" lIns="0" tIns="0" rIns="0" bIns="0" anchor="t">
            <a:spAutoFit/>
          </a:bodyPr>
          <a:lstStyle/>
          <a:p>
            <a:pPr algn="l"/>
            <a:r>
              <a:rPr sz="1200" b="0" i="0">
                <a:solidFill>
                  <a:srgbClr val="2C2C2C"/>
                </a:solidFill>
                <a:latin typeface="Calibri"/>
              </a:rPr>
              <a:t>Every routing decision, AI invocation, and tool call is logged with its relationships. We can answer 'why did the system do that?' for any message.</a:t>
            </a:r>
          </a:p>
        </p:txBody>
      </p:sp>
      <p:sp>
        <p:nvSpPr>
          <p:cNvPr id="17" name="TextBox 16"/>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8" name="TextBox 17"/>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9 /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VELOCITY &amp; CUSTOMIZATION</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Patterns for shipping and tuning</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920240"/>
            <a:ext cx="3454298" cy="4114800"/>
          </a:xfrm>
          <a:prstGeom prst="roundRect">
            <a:avLst/>
          </a:prstGeom>
          <a:solidFill>
            <a:srgbClr val="F1ECE4"/>
          </a:solidFill>
          <a:ln w="9525">
            <a:solidFill>
              <a:srgbClr val="9C8F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94560"/>
            <a:ext cx="2997098" cy="822960"/>
          </a:xfrm>
          <a:prstGeom prst="rect">
            <a:avLst/>
          </a:prstGeom>
          <a:noFill/>
        </p:spPr>
        <p:txBody>
          <a:bodyPr wrap="square" lIns="0" tIns="0" rIns="0" bIns="0" anchor="t">
            <a:spAutoFit/>
          </a:bodyPr>
          <a:lstStyle/>
          <a:p>
            <a:pPr algn="l"/>
            <a:r>
              <a:rPr sz="1500" b="1" i="0">
                <a:solidFill>
                  <a:srgbClr val="1A1A1A"/>
                </a:solidFill>
                <a:latin typeface="Calibri"/>
              </a:rPr>
              <a:t>Domain-driven folders</a:t>
            </a:r>
          </a:p>
        </p:txBody>
      </p:sp>
      <p:sp>
        <p:nvSpPr>
          <p:cNvPr id="7" name="TextBox 6"/>
          <p:cNvSpPr txBox="1"/>
          <p:nvPr/>
        </p:nvSpPr>
        <p:spPr>
          <a:xfrm>
            <a:off x="868680" y="3108960"/>
            <a:ext cx="2997098" cy="2651760"/>
          </a:xfrm>
          <a:prstGeom prst="rect">
            <a:avLst/>
          </a:prstGeom>
          <a:noFill/>
        </p:spPr>
        <p:txBody>
          <a:bodyPr wrap="square" lIns="0" tIns="0" rIns="0" bIns="0" anchor="t">
            <a:spAutoFit/>
          </a:bodyPr>
          <a:lstStyle/>
          <a:p>
            <a:pPr algn="l"/>
            <a:r>
              <a:rPr sz="1200" b="0" i="0">
                <a:solidFill>
                  <a:srgbClr val="2C2C2C"/>
                </a:solidFill>
                <a:latin typeface="Calibri"/>
              </a:rPr>
              <a:t>Backend and frontend organized by business domain (bookings, recruitment, recognition, etc.). A feature change is a self-contained, reviewable unit.</a:t>
            </a:r>
          </a:p>
        </p:txBody>
      </p:sp>
      <p:sp>
        <p:nvSpPr>
          <p:cNvPr id="8" name="Rounded Rectangle 7"/>
          <p:cNvSpPr/>
          <p:nvPr/>
        </p:nvSpPr>
        <p:spPr>
          <a:xfrm>
            <a:off x="4368698" y="1920240"/>
            <a:ext cx="3454298" cy="4114800"/>
          </a:xfrm>
          <a:prstGeom prst="roundRect">
            <a:avLst/>
          </a:prstGeom>
          <a:solidFill>
            <a:srgbClr val="F1ECE4"/>
          </a:solidFill>
          <a:ln w="9525">
            <a:solidFill>
              <a:srgbClr val="9C8F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7298" y="2194560"/>
            <a:ext cx="2997098" cy="822960"/>
          </a:xfrm>
          <a:prstGeom prst="rect">
            <a:avLst/>
          </a:prstGeom>
          <a:noFill/>
        </p:spPr>
        <p:txBody>
          <a:bodyPr wrap="square" lIns="0" tIns="0" rIns="0" bIns="0" anchor="t">
            <a:spAutoFit/>
          </a:bodyPr>
          <a:lstStyle/>
          <a:p>
            <a:pPr algn="l"/>
            <a:r>
              <a:rPr sz="1500" b="1" i="0">
                <a:solidFill>
                  <a:srgbClr val="1A1A1A"/>
                </a:solidFill>
                <a:latin typeface="Calibri"/>
              </a:rPr>
              <a:t>Per-tenant configuration</a:t>
            </a:r>
          </a:p>
        </p:txBody>
      </p:sp>
      <p:sp>
        <p:nvSpPr>
          <p:cNvPr id="10" name="TextBox 9"/>
          <p:cNvSpPr txBox="1"/>
          <p:nvPr/>
        </p:nvSpPr>
        <p:spPr>
          <a:xfrm>
            <a:off x="4597298" y="3108960"/>
            <a:ext cx="2997098" cy="2651760"/>
          </a:xfrm>
          <a:prstGeom prst="rect">
            <a:avLst/>
          </a:prstGeom>
          <a:noFill/>
        </p:spPr>
        <p:txBody>
          <a:bodyPr wrap="square" lIns="0" tIns="0" rIns="0" bIns="0" anchor="t">
            <a:spAutoFit/>
          </a:bodyPr>
          <a:lstStyle/>
          <a:p>
            <a:pPr algn="l"/>
            <a:r>
              <a:rPr sz="1200" b="0" i="0">
                <a:solidFill>
                  <a:srgbClr val="2C2C2C"/>
                </a:solidFill>
                <a:latin typeface="Calibri"/>
              </a:rPr>
              <a:t>Prompts, feature flags, credentials, recognition definitions all live in a tenant-scoped config surface. Tenants self-customize without engineering.</a:t>
            </a:r>
          </a:p>
        </p:txBody>
      </p:sp>
      <p:sp>
        <p:nvSpPr>
          <p:cNvPr id="11" name="Rounded Rectangle 10"/>
          <p:cNvSpPr/>
          <p:nvPr/>
        </p:nvSpPr>
        <p:spPr>
          <a:xfrm>
            <a:off x="8097316" y="1920240"/>
            <a:ext cx="3454298" cy="4114800"/>
          </a:xfrm>
          <a:prstGeom prst="roundRect">
            <a:avLst/>
          </a:prstGeom>
          <a:solidFill>
            <a:srgbClr val="F1ECE4"/>
          </a:solidFill>
          <a:ln w="9525">
            <a:solidFill>
              <a:srgbClr val="9C8F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5916" y="2194560"/>
            <a:ext cx="2997098" cy="822960"/>
          </a:xfrm>
          <a:prstGeom prst="rect">
            <a:avLst/>
          </a:prstGeom>
          <a:noFill/>
        </p:spPr>
        <p:txBody>
          <a:bodyPr wrap="square" lIns="0" tIns="0" rIns="0" bIns="0" anchor="t">
            <a:spAutoFit/>
          </a:bodyPr>
          <a:lstStyle/>
          <a:p>
            <a:pPr algn="l"/>
            <a:r>
              <a:rPr sz="1500" b="1" i="0">
                <a:solidFill>
                  <a:srgbClr val="1A1A1A"/>
                </a:solidFill>
                <a:latin typeface="Calibri"/>
              </a:rPr>
              <a:t>Two-sided LLM personas</a:t>
            </a:r>
          </a:p>
        </p:txBody>
      </p:sp>
      <p:sp>
        <p:nvSpPr>
          <p:cNvPr id="13" name="TextBox 12"/>
          <p:cNvSpPr txBox="1"/>
          <p:nvPr/>
        </p:nvSpPr>
        <p:spPr>
          <a:xfrm>
            <a:off x="8325916" y="3108960"/>
            <a:ext cx="2997098" cy="2651760"/>
          </a:xfrm>
          <a:prstGeom prst="rect">
            <a:avLst/>
          </a:prstGeom>
          <a:noFill/>
        </p:spPr>
        <p:txBody>
          <a:bodyPr wrap="square" lIns="0" tIns="0" rIns="0" bIns="0" anchor="t">
            <a:spAutoFit/>
          </a:bodyPr>
          <a:lstStyle/>
          <a:p>
            <a:pPr algn="l"/>
            <a:r>
              <a:rPr sz="1200" b="0" i="0">
                <a:solidFill>
                  <a:srgbClr val="2C2C2C"/>
                </a:solidFill>
                <a:latin typeface="Calibri"/>
              </a:rPr>
              <a:t>Separate AI personas for volunteers and admins, with different tools and prompts. Customers never see admin operations and vice versa — smaller attack surface, clearer tool semantics.</a:t>
            </a:r>
          </a:p>
        </p:txBody>
      </p:sp>
      <p:sp>
        <p:nvSpPr>
          <p:cNvPr id="14" name="TextBox 13"/>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5" name="TextBox 14"/>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10 / 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WHY THIS ARCHITECTURE MATTERS</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Cost-tiered AI: the headline economic point</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0911535" cy="640080"/>
          </a:xfrm>
          <a:prstGeom prst="rect">
            <a:avLst/>
          </a:prstGeom>
          <a:noFill/>
        </p:spPr>
        <p:txBody>
          <a:bodyPr wrap="square" lIns="0" tIns="0" rIns="0" bIns="0" anchor="t">
            <a:spAutoFit/>
          </a:bodyPr>
          <a:lstStyle/>
          <a:p>
            <a:pPr algn="l"/>
            <a:r>
              <a:rPr sz="1500" b="0" i="1">
                <a:solidFill>
                  <a:srgbClr val="2C2C2C"/>
                </a:solidFill>
                <a:latin typeface="Calibri"/>
              </a:rPr>
              <a:t>Operating cost grows with message complexity, not with message volume. This decouples our AI spend from raw tenant growth.</a:t>
            </a:r>
          </a:p>
        </p:txBody>
      </p:sp>
      <p:sp>
        <p:nvSpPr>
          <p:cNvPr id="6" name="Rounded Rectangle 5"/>
          <p:cNvSpPr/>
          <p:nvPr/>
        </p:nvSpPr>
        <p:spPr>
          <a:xfrm>
            <a:off x="640080" y="2788920"/>
            <a:ext cx="5303520" cy="3291840"/>
          </a:xfrm>
          <a:prstGeom prst="roundRect">
            <a:avLst/>
          </a:prstGeom>
          <a:solidFill>
            <a:srgbClr val="F5E6E0"/>
          </a:solidFill>
          <a:ln w="9525">
            <a:solidFill>
              <a:srgbClr val="C58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017520"/>
            <a:ext cx="4754880" cy="411480"/>
          </a:xfrm>
          <a:prstGeom prst="rect">
            <a:avLst/>
          </a:prstGeom>
          <a:noFill/>
        </p:spPr>
        <p:txBody>
          <a:bodyPr wrap="square" lIns="0" tIns="0" rIns="0" bIns="0" anchor="t">
            <a:spAutoFit/>
          </a:bodyPr>
          <a:lstStyle/>
          <a:p>
            <a:pPr algn="l"/>
            <a:r>
              <a:rPr sz="1600" b="1" i="0">
                <a:solidFill>
                  <a:srgbClr val="C58A6B"/>
                </a:solidFill>
                <a:latin typeface="Calibri"/>
              </a:rPr>
              <a:t>If we had gone AI-only</a:t>
            </a:r>
          </a:p>
        </p:txBody>
      </p:sp>
      <p:sp>
        <p:nvSpPr>
          <p:cNvPr id="8" name="TextBox 7"/>
          <p:cNvSpPr txBox="1"/>
          <p:nvPr/>
        </p:nvSpPr>
        <p:spPr>
          <a:xfrm>
            <a:off x="914400" y="3566160"/>
            <a:ext cx="4754880" cy="2377440"/>
          </a:xfrm>
          <a:prstGeom prst="rect">
            <a:avLst/>
          </a:prstGeom>
          <a:noFill/>
        </p:spPr>
        <p:txBody>
          <a:bodyPr wrap="square" lIns="0" tIns="0" rIns="0" bIns="0" anchor="t">
            <a:spAutoFit/>
          </a:bodyPr>
          <a:lstStyle/>
          <a:p>
            <a:pPr algn="l">
              <a:lnSpc>
                <a:spcPct val="125000"/>
              </a:lnSpc>
            </a:pPr>
            <a:r>
              <a:rPr sz="1200">
                <a:solidFill>
                  <a:srgbClr val="2C2C2C"/>
                </a:solidFill>
                <a:latin typeface="Calibri"/>
              </a:rPr>
              <a:t>•   Every check-in, ping, and reminder spends AI tokens.</a:t>
            </a:r>
          </a:p>
          <a:p>
            <a:pPr algn="l">
              <a:lnSpc>
                <a:spcPct val="125000"/>
              </a:lnSpc>
              <a:spcBef>
                <a:spcPts val="800"/>
              </a:spcBef>
            </a:pPr>
            <a:r>
              <a:rPr sz="1200">
                <a:solidFill>
                  <a:srgbClr val="2C2C2C"/>
                </a:solidFill>
                <a:latin typeface="Calibri"/>
              </a:rPr>
              <a:t>•   Cost scales with raw message volume — gross margin shrinks as tenants grow.</a:t>
            </a:r>
          </a:p>
          <a:p>
            <a:pPr algn="l">
              <a:lnSpc>
                <a:spcPct val="125000"/>
              </a:lnSpc>
              <a:spcBef>
                <a:spcPts val="800"/>
              </a:spcBef>
            </a:pPr>
            <a:r>
              <a:rPr sz="1200">
                <a:solidFill>
                  <a:srgbClr val="2C2C2C"/>
                </a:solidFill>
                <a:latin typeface="Calibri"/>
              </a:rPr>
              <a:t>•   Latency of 1–2 sec per message at peak times.</a:t>
            </a:r>
          </a:p>
          <a:p>
            <a:pPr algn="l">
              <a:lnSpc>
                <a:spcPct val="125000"/>
              </a:lnSpc>
              <a:spcBef>
                <a:spcPts val="800"/>
              </a:spcBef>
            </a:pPr>
            <a:r>
              <a:rPr sz="1200">
                <a:solidFill>
                  <a:srgbClr val="2C2C2C"/>
                </a:solidFill>
                <a:latin typeface="Calibri"/>
              </a:rPr>
              <a:t>•   Behavior shifts when the AI vendor changes models.</a:t>
            </a:r>
          </a:p>
        </p:txBody>
      </p:sp>
      <p:sp>
        <p:nvSpPr>
          <p:cNvPr id="9" name="Rounded Rectangle 8"/>
          <p:cNvSpPr/>
          <p:nvPr/>
        </p:nvSpPr>
        <p:spPr>
          <a:xfrm>
            <a:off x="6217920" y="2788920"/>
            <a:ext cx="5303520" cy="3291840"/>
          </a:xfrm>
          <a:prstGeom prst="roundRect">
            <a:avLst/>
          </a:prstGeom>
          <a:solidFill>
            <a:srgbClr val="E4EDE3"/>
          </a:solidFill>
          <a:ln w="9525">
            <a:solidFill>
              <a:srgbClr val="7BA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3017520"/>
            <a:ext cx="4754880" cy="411480"/>
          </a:xfrm>
          <a:prstGeom prst="rect">
            <a:avLst/>
          </a:prstGeom>
          <a:noFill/>
        </p:spPr>
        <p:txBody>
          <a:bodyPr wrap="square" lIns="0" tIns="0" rIns="0" bIns="0" anchor="t">
            <a:spAutoFit/>
          </a:bodyPr>
          <a:lstStyle/>
          <a:p>
            <a:pPr algn="l"/>
            <a:r>
              <a:rPr sz="1600" b="1" i="0">
                <a:solidFill>
                  <a:srgbClr val="7BA070"/>
                </a:solidFill>
                <a:latin typeface="Calibri"/>
              </a:rPr>
              <a:t>What we built instead</a:t>
            </a:r>
          </a:p>
        </p:txBody>
      </p:sp>
      <p:sp>
        <p:nvSpPr>
          <p:cNvPr id="11" name="TextBox 10"/>
          <p:cNvSpPr txBox="1"/>
          <p:nvPr/>
        </p:nvSpPr>
        <p:spPr>
          <a:xfrm>
            <a:off x="6492240" y="3566160"/>
            <a:ext cx="4754880" cy="2377440"/>
          </a:xfrm>
          <a:prstGeom prst="rect">
            <a:avLst/>
          </a:prstGeom>
          <a:noFill/>
        </p:spPr>
        <p:txBody>
          <a:bodyPr wrap="square" lIns="0" tIns="0" rIns="0" bIns="0" anchor="t">
            <a:spAutoFit/>
          </a:bodyPr>
          <a:lstStyle/>
          <a:p>
            <a:pPr algn="l">
              <a:lnSpc>
                <a:spcPct val="125000"/>
              </a:lnSpc>
            </a:pPr>
            <a:r>
              <a:rPr sz="1200">
                <a:solidFill>
                  <a:srgbClr val="2C2C2C"/>
                </a:solidFill>
                <a:latin typeface="Calibri"/>
              </a:rPr>
              <a:t>•   80–90% of messages handled deterministically — $0.</a:t>
            </a:r>
          </a:p>
          <a:p>
            <a:pPr algn="l">
              <a:lnSpc>
                <a:spcPct val="125000"/>
              </a:lnSpc>
              <a:spcBef>
                <a:spcPts val="800"/>
              </a:spcBef>
            </a:pPr>
            <a:r>
              <a:rPr sz="1200">
                <a:solidFill>
                  <a:srgbClr val="2C2C2C"/>
                </a:solidFill>
                <a:latin typeface="Calibri"/>
              </a:rPr>
              <a:t>•   Tenant growth does not pull AI cost with it.</a:t>
            </a:r>
          </a:p>
          <a:p>
            <a:pPr algn="l">
              <a:lnSpc>
                <a:spcPct val="125000"/>
              </a:lnSpc>
              <a:spcBef>
                <a:spcPts val="800"/>
              </a:spcBef>
            </a:pPr>
            <a:r>
              <a:rPr sz="1200">
                <a:solidFill>
                  <a:srgbClr val="2C2C2C"/>
                </a:solidFill>
                <a:latin typeface="Calibri"/>
              </a:rPr>
              <a:t>•   Sub-second response on the dominant case.</a:t>
            </a:r>
          </a:p>
          <a:p>
            <a:pPr algn="l">
              <a:lnSpc>
                <a:spcPct val="125000"/>
              </a:lnSpc>
              <a:spcBef>
                <a:spcPts val="800"/>
              </a:spcBef>
            </a:pPr>
            <a:r>
              <a:rPr sz="1200">
                <a:solidFill>
                  <a:srgbClr val="2C2C2C"/>
                </a:solidFill>
                <a:latin typeface="Calibri"/>
              </a:rPr>
              <a:t>•   Mission-critical actions are stable across model upgrades.</a:t>
            </a:r>
          </a:p>
        </p:txBody>
      </p:sp>
      <p:sp>
        <p:nvSpPr>
          <p:cNvPr id="12" name="TextBox 11"/>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3" name="TextBox 12"/>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11 / 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WHY IT MATTERS AT THE BOARD LEVEL</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Strategic concerns the architecture addresses</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2103120"/>
            <a:ext cx="3520440" cy="3840480"/>
          </a:xfrm>
          <a:prstGeom prst="roundRect">
            <a:avLst/>
          </a:prstGeom>
          <a:solidFill>
            <a:srgbClr val="E8EEF7"/>
          </a:solidFill>
          <a:ln w="9525">
            <a:solidFill>
              <a:srgbClr val="5B7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331720"/>
            <a:ext cx="2971800" cy="822960"/>
          </a:xfrm>
          <a:prstGeom prst="rect">
            <a:avLst/>
          </a:prstGeom>
          <a:noFill/>
        </p:spPr>
        <p:txBody>
          <a:bodyPr wrap="square" lIns="0" tIns="0" rIns="0" bIns="0" anchor="t">
            <a:spAutoFit/>
          </a:bodyPr>
          <a:lstStyle/>
          <a:p>
            <a:pPr algn="l"/>
            <a:r>
              <a:rPr sz="1800" b="1" i="0">
                <a:solidFill>
                  <a:srgbClr val="1A1A1A"/>
                </a:solidFill>
                <a:latin typeface="Calibri"/>
              </a:rPr>
              <a:t>Margin protection at scale</a:t>
            </a:r>
          </a:p>
        </p:txBody>
      </p:sp>
      <p:sp>
        <p:nvSpPr>
          <p:cNvPr id="7" name="TextBox 6"/>
          <p:cNvSpPr txBox="1"/>
          <p:nvPr/>
        </p:nvSpPr>
        <p:spPr>
          <a:xfrm>
            <a:off x="960120" y="3200400"/>
            <a:ext cx="2971800" cy="2743200"/>
          </a:xfrm>
          <a:prstGeom prst="rect">
            <a:avLst/>
          </a:prstGeom>
          <a:noFill/>
        </p:spPr>
        <p:txBody>
          <a:bodyPr wrap="square" lIns="0" tIns="0" rIns="0" bIns="0" anchor="t">
            <a:spAutoFit/>
          </a:bodyPr>
          <a:lstStyle/>
          <a:p>
            <a:pPr algn="l"/>
            <a:r>
              <a:rPr sz="1300" b="0" i="0">
                <a:solidFill>
                  <a:srgbClr val="2C2C2C"/>
                </a:solidFill>
                <a:latin typeface="Calibri"/>
              </a:rPr>
              <a:t>Cost grows with message complexity, not raw volume. The more successful a tenant becomes, the more our deterministic tier carries — not our AI budget.</a:t>
            </a:r>
          </a:p>
        </p:txBody>
      </p:sp>
      <p:sp>
        <p:nvSpPr>
          <p:cNvPr id="8" name="Rounded Rectangle 7"/>
          <p:cNvSpPr/>
          <p:nvPr/>
        </p:nvSpPr>
        <p:spPr>
          <a:xfrm>
            <a:off x="4434840" y="2103120"/>
            <a:ext cx="3520440" cy="3840480"/>
          </a:xfrm>
          <a:prstGeom prst="roundRect">
            <a:avLst/>
          </a:prstGeom>
          <a:solidFill>
            <a:srgbClr val="E4EDE3"/>
          </a:solidFill>
          <a:ln w="9525">
            <a:solidFill>
              <a:srgbClr val="7BA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2331720"/>
            <a:ext cx="2971800" cy="822960"/>
          </a:xfrm>
          <a:prstGeom prst="rect">
            <a:avLst/>
          </a:prstGeom>
          <a:noFill/>
        </p:spPr>
        <p:txBody>
          <a:bodyPr wrap="square" lIns="0" tIns="0" rIns="0" bIns="0" anchor="t">
            <a:spAutoFit/>
          </a:bodyPr>
          <a:lstStyle/>
          <a:p>
            <a:pPr algn="l"/>
            <a:r>
              <a:rPr sz="1800" b="1" i="0">
                <a:solidFill>
                  <a:srgbClr val="1A1A1A"/>
                </a:solidFill>
                <a:latin typeface="Calibri"/>
              </a:rPr>
              <a:t>Operational trust</a:t>
            </a:r>
          </a:p>
        </p:txBody>
      </p:sp>
      <p:sp>
        <p:nvSpPr>
          <p:cNvPr id="10" name="TextBox 9"/>
          <p:cNvSpPr txBox="1"/>
          <p:nvPr/>
        </p:nvSpPr>
        <p:spPr>
          <a:xfrm>
            <a:off x="4709160" y="3200400"/>
            <a:ext cx="2971800" cy="2743200"/>
          </a:xfrm>
          <a:prstGeom prst="rect">
            <a:avLst/>
          </a:prstGeom>
          <a:noFill/>
        </p:spPr>
        <p:txBody>
          <a:bodyPr wrap="square" lIns="0" tIns="0" rIns="0" bIns="0" anchor="t">
            <a:spAutoFit/>
          </a:bodyPr>
          <a:lstStyle/>
          <a:p>
            <a:pPr algn="l"/>
            <a:r>
              <a:rPr sz="1300" b="0" i="0">
                <a:solidFill>
                  <a:srgbClr val="2C2C2C"/>
                </a:solidFill>
                <a:latin typeface="Calibri"/>
              </a:rPr>
              <a:t>Volunteers and admins rely on the system at high-stakes moments. The architecture is tilted toward reliability — soft-fail dependencies, deterministic critical paths, full audit trail.</a:t>
            </a:r>
          </a:p>
        </p:txBody>
      </p:sp>
      <p:sp>
        <p:nvSpPr>
          <p:cNvPr id="11" name="Rounded Rectangle 10"/>
          <p:cNvSpPr/>
          <p:nvPr/>
        </p:nvSpPr>
        <p:spPr>
          <a:xfrm>
            <a:off x="8183880" y="2103120"/>
            <a:ext cx="3520440" cy="3840480"/>
          </a:xfrm>
          <a:prstGeom prst="roundRect">
            <a:avLst/>
          </a:prstGeom>
          <a:solidFill>
            <a:srgbClr val="EDE3F2"/>
          </a:solidFill>
          <a:ln w="9525">
            <a:solidFill>
              <a:srgbClr val="947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58200" y="2331720"/>
            <a:ext cx="2971800" cy="822960"/>
          </a:xfrm>
          <a:prstGeom prst="rect">
            <a:avLst/>
          </a:prstGeom>
          <a:noFill/>
        </p:spPr>
        <p:txBody>
          <a:bodyPr wrap="square" lIns="0" tIns="0" rIns="0" bIns="0" anchor="t">
            <a:spAutoFit/>
          </a:bodyPr>
          <a:lstStyle/>
          <a:p>
            <a:pPr algn="l"/>
            <a:r>
              <a:rPr sz="1800" b="1" i="0">
                <a:solidFill>
                  <a:srgbClr val="1A1A1A"/>
                </a:solidFill>
                <a:latin typeface="Calibri"/>
              </a:rPr>
              <a:t>Optionality</a:t>
            </a:r>
          </a:p>
        </p:txBody>
      </p:sp>
      <p:sp>
        <p:nvSpPr>
          <p:cNvPr id="13" name="TextBox 12"/>
          <p:cNvSpPr txBox="1"/>
          <p:nvPr/>
        </p:nvSpPr>
        <p:spPr>
          <a:xfrm>
            <a:off x="8458200" y="3200400"/>
            <a:ext cx="2971800" cy="2743200"/>
          </a:xfrm>
          <a:prstGeom prst="rect">
            <a:avLst/>
          </a:prstGeom>
          <a:noFill/>
        </p:spPr>
        <p:txBody>
          <a:bodyPr wrap="square" lIns="0" tIns="0" rIns="0" bIns="0" anchor="t">
            <a:spAutoFit/>
          </a:bodyPr>
          <a:lstStyle/>
          <a:p>
            <a:pPr algn="l"/>
            <a:r>
              <a:rPr sz="1300" b="0" i="0">
                <a:solidFill>
                  <a:srgbClr val="2C2C2C"/>
                </a:solidFill>
                <a:latin typeface="Calibri"/>
              </a:rPr>
              <a:t>Adding a new agent, swapping an AI vendor, or supporting a new SMS provider is a contained refactor — not a platform rewrite. Future product bets stay cheap.</a:t>
            </a:r>
          </a:p>
        </p:txBody>
      </p:sp>
      <p:sp>
        <p:nvSpPr>
          <p:cNvPr id="14" name="TextBox 13"/>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15" name="TextBox 14"/>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12 /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10911535" cy="274320"/>
          </a:xfrm>
          <a:prstGeom prst="rect">
            <a:avLst/>
          </a:prstGeom>
          <a:noFill/>
        </p:spPr>
        <p:txBody>
          <a:bodyPr wrap="square" lIns="0" tIns="0" rIns="0" bIns="0" anchor="t">
            <a:spAutoFit/>
          </a:bodyPr>
          <a:lstStyle/>
          <a:p>
            <a:pPr algn="l"/>
            <a:r>
              <a:rPr sz="1000" b="1" i="0">
                <a:solidFill>
                  <a:srgbClr val="5B7AB8"/>
                </a:solidFill>
                <a:latin typeface="Calibri"/>
              </a:rPr>
              <a:t>ROADMAP</a:t>
            </a:r>
          </a:p>
        </p:txBody>
      </p:sp>
      <p:sp>
        <p:nvSpPr>
          <p:cNvPr id="3" name="TextBox 2"/>
          <p:cNvSpPr txBox="1"/>
          <p:nvPr/>
        </p:nvSpPr>
        <p:spPr>
          <a:xfrm>
            <a:off x="640080" y="640080"/>
            <a:ext cx="10911535" cy="777240"/>
          </a:xfrm>
          <a:prstGeom prst="rect">
            <a:avLst/>
          </a:prstGeom>
          <a:noFill/>
        </p:spPr>
        <p:txBody>
          <a:bodyPr wrap="square" lIns="0" tIns="0" rIns="0" bIns="0" anchor="t">
            <a:spAutoFit/>
          </a:bodyPr>
          <a:lstStyle/>
          <a:p>
            <a:pPr algn="l"/>
            <a:r>
              <a:rPr sz="2800" b="1" i="0">
                <a:solidFill>
                  <a:srgbClr val="1A1A1A"/>
                </a:solidFill>
                <a:latin typeface="Calibri"/>
              </a:rPr>
              <a:t>What this architecture sets us up to do next</a:t>
            </a:r>
          </a:p>
        </p:txBody>
      </p:sp>
      <p:cxnSp>
        <p:nvCxnSpPr>
          <p:cNvPr id="4" name="Connector 3"/>
          <p:cNvCxnSpPr/>
          <p:nvPr/>
        </p:nvCxnSpPr>
        <p:spPr>
          <a:xfrm>
            <a:off x="640080" y="1508760"/>
            <a:ext cx="10911535"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0911535" cy="548640"/>
          </a:xfrm>
          <a:prstGeom prst="rect">
            <a:avLst/>
          </a:prstGeom>
          <a:noFill/>
        </p:spPr>
        <p:txBody>
          <a:bodyPr wrap="square" lIns="0" tIns="0" rIns="0" bIns="0" anchor="t">
            <a:spAutoFit/>
          </a:bodyPr>
          <a:lstStyle/>
          <a:p>
            <a:pPr algn="l"/>
            <a:r>
              <a:rPr sz="1400" b="0" i="1">
                <a:solidFill>
                  <a:srgbClr val="2C2C2C"/>
                </a:solidFill>
                <a:latin typeface="Calibri"/>
              </a:rPr>
              <a:t>Each item below is a contained extension — not a rewrite. The agent layer, configuration surface, and soft-fail dependencies make future changes cheap.</a:t>
            </a:r>
          </a:p>
        </p:txBody>
      </p:sp>
      <p:sp>
        <p:nvSpPr>
          <p:cNvPr id="6" name="Rounded Rectangle 5"/>
          <p:cNvSpPr/>
          <p:nvPr/>
        </p:nvSpPr>
        <p:spPr>
          <a:xfrm>
            <a:off x="640080" y="297180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697480"/>
            <a:ext cx="4937760" cy="365760"/>
          </a:xfrm>
          <a:prstGeom prst="rect">
            <a:avLst/>
          </a:prstGeom>
          <a:noFill/>
        </p:spPr>
        <p:txBody>
          <a:bodyPr wrap="square" lIns="0" tIns="0" rIns="0" bIns="0" anchor="t">
            <a:spAutoFit/>
          </a:bodyPr>
          <a:lstStyle/>
          <a:p>
            <a:pPr algn="l"/>
            <a:r>
              <a:rPr sz="1400" b="1" i="0">
                <a:solidFill>
                  <a:srgbClr val="1A1A1A"/>
                </a:solidFill>
                <a:latin typeface="Calibri"/>
              </a:rPr>
              <a:t>Donations &amp; Marketing Agent</a:t>
            </a:r>
          </a:p>
        </p:txBody>
      </p:sp>
      <p:sp>
        <p:nvSpPr>
          <p:cNvPr id="8" name="TextBox 7"/>
          <p:cNvSpPr txBox="1"/>
          <p:nvPr/>
        </p:nvSpPr>
        <p:spPr>
          <a:xfrm>
            <a:off x="960120" y="3017520"/>
            <a:ext cx="4937760" cy="731520"/>
          </a:xfrm>
          <a:prstGeom prst="rect">
            <a:avLst/>
          </a:prstGeom>
          <a:noFill/>
        </p:spPr>
        <p:txBody>
          <a:bodyPr wrap="square" lIns="0" tIns="0" rIns="0" bIns="0" anchor="t">
            <a:spAutoFit/>
          </a:bodyPr>
          <a:lstStyle/>
          <a:p>
            <a:pPr algn="l"/>
            <a:r>
              <a:rPr sz="1100" b="0" i="0">
                <a:solidFill>
                  <a:srgbClr val="2C2C2C"/>
                </a:solidFill>
                <a:latin typeface="Calibri"/>
              </a:rPr>
              <a:t>Public donation page + pluggable payment processors.</a:t>
            </a:r>
          </a:p>
        </p:txBody>
      </p:sp>
      <p:sp>
        <p:nvSpPr>
          <p:cNvPr id="9" name="Rounded Rectangle 8"/>
          <p:cNvSpPr/>
          <p:nvPr/>
        </p:nvSpPr>
        <p:spPr>
          <a:xfrm>
            <a:off x="6217920" y="297180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2697480"/>
            <a:ext cx="4937760" cy="365760"/>
          </a:xfrm>
          <a:prstGeom prst="rect">
            <a:avLst/>
          </a:prstGeom>
          <a:noFill/>
        </p:spPr>
        <p:txBody>
          <a:bodyPr wrap="square" lIns="0" tIns="0" rIns="0" bIns="0" anchor="t">
            <a:spAutoFit/>
          </a:bodyPr>
          <a:lstStyle/>
          <a:p>
            <a:pPr algn="l"/>
            <a:r>
              <a:rPr sz="1400" b="1" i="0">
                <a:solidFill>
                  <a:srgbClr val="1A1A1A"/>
                </a:solidFill>
                <a:latin typeface="Calibri"/>
              </a:rPr>
              <a:t>Semantic search</a:t>
            </a:r>
          </a:p>
        </p:txBody>
      </p:sp>
      <p:sp>
        <p:nvSpPr>
          <p:cNvPr id="11" name="TextBox 10"/>
          <p:cNvSpPr txBox="1"/>
          <p:nvPr/>
        </p:nvSpPr>
        <p:spPr>
          <a:xfrm>
            <a:off x="6537960" y="3017520"/>
            <a:ext cx="4937760" cy="731520"/>
          </a:xfrm>
          <a:prstGeom prst="rect">
            <a:avLst/>
          </a:prstGeom>
          <a:noFill/>
        </p:spPr>
        <p:txBody>
          <a:bodyPr wrap="square" lIns="0" tIns="0" rIns="0" bIns="0" anchor="t">
            <a:spAutoFit/>
          </a:bodyPr>
          <a:lstStyle/>
          <a:p>
            <a:pPr algn="l"/>
            <a:r>
              <a:rPr sz="1100" b="0" i="0">
                <a:solidFill>
                  <a:srgbClr val="2C2C2C"/>
                </a:solidFill>
                <a:latin typeface="Calibri"/>
              </a:rPr>
              <a:t>pgvector + Voyage AI embeddings for conversation recall and similar-past-event suggestions.</a:t>
            </a:r>
          </a:p>
        </p:txBody>
      </p:sp>
      <p:sp>
        <p:nvSpPr>
          <p:cNvPr id="12" name="Rounded Rectangle 11"/>
          <p:cNvSpPr/>
          <p:nvPr/>
        </p:nvSpPr>
        <p:spPr>
          <a:xfrm>
            <a:off x="640080" y="402336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749040"/>
            <a:ext cx="4937760" cy="365760"/>
          </a:xfrm>
          <a:prstGeom prst="rect">
            <a:avLst/>
          </a:prstGeom>
          <a:noFill/>
        </p:spPr>
        <p:txBody>
          <a:bodyPr wrap="square" lIns="0" tIns="0" rIns="0" bIns="0" anchor="t">
            <a:spAutoFit/>
          </a:bodyPr>
          <a:lstStyle/>
          <a:p>
            <a:pPr algn="l"/>
            <a:r>
              <a:rPr sz="1400" b="1" i="0">
                <a:solidFill>
                  <a:srgbClr val="1A1A1A"/>
                </a:solidFill>
                <a:latin typeface="Calibri"/>
              </a:rPr>
              <a:t>Pluggable contact data</a:t>
            </a:r>
          </a:p>
        </p:txBody>
      </p:sp>
      <p:sp>
        <p:nvSpPr>
          <p:cNvPr id="14" name="TextBox 13"/>
          <p:cNvSpPr txBox="1"/>
          <p:nvPr/>
        </p:nvSpPr>
        <p:spPr>
          <a:xfrm>
            <a:off x="960120" y="4069080"/>
            <a:ext cx="4937760" cy="731520"/>
          </a:xfrm>
          <a:prstGeom prst="rect">
            <a:avLst/>
          </a:prstGeom>
          <a:noFill/>
        </p:spPr>
        <p:txBody>
          <a:bodyPr wrap="square" lIns="0" tIns="0" rIns="0" bIns="0" anchor="t">
            <a:spAutoFit/>
          </a:bodyPr>
          <a:lstStyle/>
          <a:p>
            <a:pPr algn="l"/>
            <a:r>
              <a:rPr sz="1100" b="0" i="0">
                <a:solidFill>
                  <a:srgbClr val="2C2C2C"/>
                </a:solidFill>
                <a:latin typeface="Calibri"/>
              </a:rPr>
              <a:t>External CRM, HRIS, or identity provider as source of truth for volunteer profiles.</a:t>
            </a:r>
          </a:p>
        </p:txBody>
      </p:sp>
      <p:sp>
        <p:nvSpPr>
          <p:cNvPr id="15" name="Rounded Rectangle 14"/>
          <p:cNvSpPr/>
          <p:nvPr/>
        </p:nvSpPr>
        <p:spPr>
          <a:xfrm>
            <a:off x="6217920" y="402336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3749040"/>
            <a:ext cx="4937760" cy="365760"/>
          </a:xfrm>
          <a:prstGeom prst="rect">
            <a:avLst/>
          </a:prstGeom>
          <a:noFill/>
        </p:spPr>
        <p:txBody>
          <a:bodyPr wrap="square" lIns="0" tIns="0" rIns="0" bIns="0" anchor="t">
            <a:spAutoFit/>
          </a:bodyPr>
          <a:lstStyle/>
          <a:p>
            <a:pPr algn="l"/>
            <a:r>
              <a:rPr sz="1400" b="1" i="0">
                <a:solidFill>
                  <a:srgbClr val="1A1A1A"/>
                </a:solidFill>
                <a:latin typeface="Calibri"/>
              </a:rPr>
              <a:t>AI agent surface (MCP)</a:t>
            </a:r>
          </a:p>
        </p:txBody>
      </p:sp>
      <p:sp>
        <p:nvSpPr>
          <p:cNvPr id="17" name="TextBox 16"/>
          <p:cNvSpPr txBox="1"/>
          <p:nvPr/>
        </p:nvSpPr>
        <p:spPr>
          <a:xfrm>
            <a:off x="6537960" y="4069080"/>
            <a:ext cx="4937760" cy="731520"/>
          </a:xfrm>
          <a:prstGeom prst="rect">
            <a:avLst/>
          </a:prstGeom>
          <a:noFill/>
        </p:spPr>
        <p:txBody>
          <a:bodyPr wrap="square" lIns="0" tIns="0" rIns="0" bIns="0" anchor="t">
            <a:spAutoFit/>
          </a:bodyPr>
          <a:lstStyle/>
          <a:p>
            <a:pPr algn="l"/>
            <a:r>
              <a:rPr sz="1100" b="0" i="0">
                <a:solidFill>
                  <a:srgbClr val="2C2C2C"/>
                </a:solidFill>
                <a:latin typeface="Calibri"/>
              </a:rPr>
              <a:t>External AI tools can integrate with the platform via the Model Context Protocol.</a:t>
            </a:r>
          </a:p>
        </p:txBody>
      </p:sp>
      <p:sp>
        <p:nvSpPr>
          <p:cNvPr id="18" name="Rounded Rectangle 17"/>
          <p:cNvSpPr/>
          <p:nvPr/>
        </p:nvSpPr>
        <p:spPr>
          <a:xfrm>
            <a:off x="640080" y="507492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800600"/>
            <a:ext cx="4937760" cy="365760"/>
          </a:xfrm>
          <a:prstGeom prst="rect">
            <a:avLst/>
          </a:prstGeom>
          <a:noFill/>
        </p:spPr>
        <p:txBody>
          <a:bodyPr wrap="square" lIns="0" tIns="0" rIns="0" bIns="0" anchor="t">
            <a:spAutoFit/>
          </a:bodyPr>
          <a:lstStyle/>
          <a:p>
            <a:pPr algn="l"/>
            <a:r>
              <a:rPr sz="1400" b="1" i="0">
                <a:solidFill>
                  <a:srgbClr val="1A1A1A"/>
                </a:solidFill>
                <a:latin typeface="Calibri"/>
              </a:rPr>
              <a:t>Twilio sub-accounts</a:t>
            </a:r>
          </a:p>
        </p:txBody>
      </p:sp>
      <p:sp>
        <p:nvSpPr>
          <p:cNvPr id="20" name="TextBox 19"/>
          <p:cNvSpPr txBox="1"/>
          <p:nvPr/>
        </p:nvSpPr>
        <p:spPr>
          <a:xfrm>
            <a:off x="960120" y="5120640"/>
            <a:ext cx="4937760" cy="731520"/>
          </a:xfrm>
          <a:prstGeom prst="rect">
            <a:avLst/>
          </a:prstGeom>
          <a:noFill/>
        </p:spPr>
        <p:txBody>
          <a:bodyPr wrap="square" lIns="0" tIns="0" rIns="0" bIns="0" anchor="t">
            <a:spAutoFit/>
          </a:bodyPr>
          <a:lstStyle/>
          <a:p>
            <a:pPr algn="l"/>
            <a:r>
              <a:rPr sz="1100" b="0" i="0">
                <a:solidFill>
                  <a:srgbClr val="2C2C2C"/>
                </a:solidFill>
                <a:latin typeface="Calibri"/>
              </a:rPr>
              <a:t>Per-tenant SMS isolation, billing attribution, 10DLC registration.</a:t>
            </a:r>
          </a:p>
        </p:txBody>
      </p:sp>
      <p:sp>
        <p:nvSpPr>
          <p:cNvPr id="21" name="Rounded Rectangle 20"/>
          <p:cNvSpPr/>
          <p:nvPr/>
        </p:nvSpPr>
        <p:spPr>
          <a:xfrm>
            <a:off x="6217920" y="5074920"/>
            <a:ext cx="137160" cy="137160"/>
          </a:xfrm>
          <a:prstGeom prst="round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60" y="4800600"/>
            <a:ext cx="4937760" cy="365760"/>
          </a:xfrm>
          <a:prstGeom prst="rect">
            <a:avLst/>
          </a:prstGeom>
          <a:noFill/>
        </p:spPr>
        <p:txBody>
          <a:bodyPr wrap="square" lIns="0" tIns="0" rIns="0" bIns="0" anchor="t">
            <a:spAutoFit/>
          </a:bodyPr>
          <a:lstStyle/>
          <a:p>
            <a:pPr algn="l"/>
            <a:r>
              <a:rPr sz="1400" b="1" i="0">
                <a:solidFill>
                  <a:srgbClr val="1A1A1A"/>
                </a:solidFill>
                <a:latin typeface="Calibri"/>
              </a:rPr>
              <a:t>Issue reporting pipeline</a:t>
            </a:r>
          </a:p>
        </p:txBody>
      </p:sp>
      <p:sp>
        <p:nvSpPr>
          <p:cNvPr id="23" name="TextBox 22"/>
          <p:cNvSpPr txBox="1"/>
          <p:nvPr/>
        </p:nvSpPr>
        <p:spPr>
          <a:xfrm>
            <a:off x="6537960" y="5120640"/>
            <a:ext cx="4937760" cy="731520"/>
          </a:xfrm>
          <a:prstGeom prst="rect">
            <a:avLst/>
          </a:prstGeom>
          <a:noFill/>
        </p:spPr>
        <p:txBody>
          <a:bodyPr wrap="square" lIns="0" tIns="0" rIns="0" bIns="0" anchor="t">
            <a:spAutoFit/>
          </a:bodyPr>
          <a:lstStyle/>
          <a:p>
            <a:pPr algn="l"/>
            <a:r>
              <a:rPr sz="1100" b="0" i="0">
                <a:solidFill>
                  <a:srgbClr val="2C2C2C"/>
                </a:solidFill>
                <a:latin typeface="Calibri"/>
              </a:rPr>
              <a:t>Classifies user-reported problems to the right inbox — tenant admin or platform.</a:t>
            </a:r>
          </a:p>
        </p:txBody>
      </p:sp>
      <p:sp>
        <p:nvSpPr>
          <p:cNvPr id="24" name="TextBox 23"/>
          <p:cNvSpPr txBox="1"/>
          <p:nvPr/>
        </p:nvSpPr>
        <p:spPr>
          <a:xfrm>
            <a:off x="640080" y="6446520"/>
            <a:ext cx="10911535" cy="274320"/>
          </a:xfrm>
          <a:prstGeom prst="rect">
            <a:avLst/>
          </a:prstGeom>
          <a:noFill/>
        </p:spPr>
        <p:txBody>
          <a:bodyPr wrap="square" lIns="0" tIns="0" rIns="0" bIns="0" anchor="t">
            <a:spAutoFit/>
          </a:bodyPr>
          <a:lstStyle/>
          <a:p>
            <a:pPr algn="l"/>
            <a:r>
              <a:rPr sz="900" b="0" i="0">
                <a:solidFill>
                  <a:srgbClr val="888888"/>
                </a:solidFill>
                <a:latin typeface="Calibri"/>
              </a:rPr>
              <a:t>Architecture Brief · Volunteer Engagement Platform</a:t>
            </a:r>
          </a:p>
        </p:txBody>
      </p:sp>
      <p:sp>
        <p:nvSpPr>
          <p:cNvPr id="25" name="TextBox 24"/>
          <p:cNvSpPr txBox="1"/>
          <p:nvPr/>
        </p:nvSpPr>
        <p:spPr>
          <a:xfrm>
            <a:off x="640080" y="6446520"/>
            <a:ext cx="10911535" cy="274320"/>
          </a:xfrm>
          <a:prstGeom prst="rect">
            <a:avLst/>
          </a:prstGeom>
          <a:noFill/>
        </p:spPr>
        <p:txBody>
          <a:bodyPr wrap="square" lIns="0" tIns="0" rIns="0" bIns="0" anchor="t">
            <a:spAutoFit/>
          </a:bodyPr>
          <a:lstStyle/>
          <a:p>
            <a:pPr algn="r"/>
            <a:r>
              <a:rPr sz="900" b="0" i="0">
                <a:solidFill>
                  <a:srgbClr val="888888"/>
                </a:solidFill>
                <a:latin typeface="Calibri"/>
              </a:rPr>
              <a:t>13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5B7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32720" cy="457200"/>
          </a:xfrm>
          <a:prstGeom prst="rect">
            <a:avLst/>
          </a:prstGeom>
          <a:noFill/>
        </p:spPr>
        <p:txBody>
          <a:bodyPr wrap="square" lIns="0" tIns="0" rIns="0" bIns="0" anchor="t">
            <a:spAutoFit/>
          </a:bodyPr>
          <a:lstStyle/>
          <a:p>
            <a:pPr algn="l"/>
            <a:r>
              <a:rPr sz="1200" b="1" i="0">
                <a:solidFill>
                  <a:srgbClr val="5B7AB8"/>
                </a:solidFill>
                <a:latin typeface="Calibri"/>
              </a:rPr>
              <a:t>BOTTOM LINE</a:t>
            </a:r>
          </a:p>
        </p:txBody>
      </p:sp>
      <p:sp>
        <p:nvSpPr>
          <p:cNvPr id="4" name="TextBox 3"/>
          <p:cNvSpPr txBox="1"/>
          <p:nvPr/>
        </p:nvSpPr>
        <p:spPr>
          <a:xfrm>
            <a:off x="914400" y="2103120"/>
            <a:ext cx="10332720" cy="1005840"/>
          </a:xfrm>
          <a:prstGeom prst="rect">
            <a:avLst/>
          </a:prstGeom>
          <a:noFill/>
        </p:spPr>
        <p:txBody>
          <a:bodyPr wrap="square" lIns="0" tIns="0" rIns="0" bIns="0" anchor="t">
            <a:spAutoFit/>
          </a:bodyPr>
          <a:lstStyle/>
          <a:p>
            <a:pPr algn="l"/>
            <a:r>
              <a:rPr sz="3600" b="1" i="0">
                <a:solidFill>
                  <a:srgbClr val="1A1A1A"/>
                </a:solidFill>
                <a:latin typeface="Calibri"/>
              </a:rPr>
              <a:t>AI as a tool, not as a magic wand.</a:t>
            </a:r>
          </a:p>
        </p:txBody>
      </p:sp>
      <p:sp>
        <p:nvSpPr>
          <p:cNvPr id="5" name="TextBox 4"/>
          <p:cNvSpPr txBox="1"/>
          <p:nvPr/>
        </p:nvSpPr>
        <p:spPr>
          <a:xfrm>
            <a:off x="914400" y="3291840"/>
            <a:ext cx="10332720" cy="2286000"/>
          </a:xfrm>
          <a:prstGeom prst="rect">
            <a:avLst/>
          </a:prstGeom>
          <a:noFill/>
        </p:spPr>
        <p:txBody>
          <a:bodyPr wrap="square" lIns="0" tIns="0" rIns="0" bIns="0" anchor="t">
            <a:spAutoFit/>
          </a:bodyPr>
          <a:lstStyle/>
          <a:p>
            <a:pPr algn="l"/>
            <a:r>
              <a:rPr sz="1600" b="0" i="0">
                <a:solidFill>
                  <a:srgbClr val="2C2C2C"/>
                </a:solidFill>
                <a:latin typeface="Calibri"/>
              </a:rPr>
              <a:t>We built a platform where the cheapest, fastest, most reliable tier handles the largest share of traffic, and AI is reserved for moments where it adds real value.
That's what lets us scale tenants without scaling cost, defend gross margin in an AI-priced market, and ship new product surfaces without rewriting what already works.</a:t>
            </a:r>
          </a:p>
        </p:txBody>
      </p:sp>
      <p:sp>
        <p:nvSpPr>
          <p:cNvPr id="6" name="TextBox 5"/>
          <p:cNvSpPr txBox="1"/>
          <p:nvPr/>
        </p:nvSpPr>
        <p:spPr>
          <a:xfrm>
            <a:off x="914400" y="6126480"/>
            <a:ext cx="10332720" cy="365760"/>
          </a:xfrm>
          <a:prstGeom prst="rect">
            <a:avLst/>
          </a:prstGeom>
          <a:noFill/>
        </p:spPr>
        <p:txBody>
          <a:bodyPr wrap="square" lIns="0" tIns="0" rIns="0" bIns="0" anchor="t">
            <a:spAutoFit/>
          </a:bodyPr>
          <a:lstStyle/>
          <a:p>
            <a:pPr algn="l"/>
            <a:r>
              <a:rPr sz="1400" b="0" i="1">
                <a:solidFill>
                  <a:srgbClr val="888888"/>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1494</Words>
  <Application>Microsoft Office PowerPoint</Application>
  <PresentationFormat>Widescreen</PresentationFormat>
  <Paragraphs>157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Inter Variable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 Gera</cp:lastModifiedBy>
  <cp:revision>2</cp:revision>
  <dcterms:created xsi:type="dcterms:W3CDTF">2013-01-27T09:14:16Z</dcterms:created>
  <dcterms:modified xsi:type="dcterms:W3CDTF">2026-06-02T23:44:40Z</dcterms:modified>
  <cp:category/>
</cp:coreProperties>
</file>